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01" r:id="rIdS1"/>
    <p:sldId id="302" r:id="rIdS2"/>
    <p:sldId id="303" r:id="rIdS3"/>
    <p:sldId id="304" r:id="rIdS4"/>
    <p:sldId id="305" r:id="rIdS5"/>
    <p:sldId id="306" r:id="rIdS6"/>
    <p:sldId id="307" r:id="rIdS7"/>
    <p:sldId id="308" r:id="rIdS8"/>
    <p:sldId id="309" r:id="rIdS9"/>
    <p:sldId id="310" r:id="rIdS10"/>
    <p:sldId id="311" r:id="rIdS11"/>
    <p:sldId id="312" r:id="rIdS12"/>
    <p:sldId id="313" r:id="rIdS13"/>
    <p:sldId id="314" r:id="rIdS14"/>
    <p:sldId id="315" r:id="rIdS15"/>
    <p:sldId id="316" r:id="rIdS16"/>
    <p:sldId id="317" r:id="rIdS17"/>
    <p:sldId id="318" r:id="rIdS18"/>
    <p:sldId id="319" r:id="rIdS19"/>
    <p:sldId id="320" r:id="rIdS20"/>
    <p:sldId id="321" r:id="rIdS21"/>
    <p:sldId id="322" r:id="rIdS22"/>
    <p:sldId id="323" r:id="rIdS23"/>
    <p:sldId id="324" r:id="rIdS24"/>
    <p:sldId id="325" r:id="rIdS25"/>
    <p:sldId id="326" r:id="rIdS26"/>
    <p:sldId id="327" r:id="rIdS27"/>
    <p:sldId id="328" r:id="rIdS28"/>
    <p:sldId id="329" r:id="rIdS29"/>
    <p:sldId id="330" r:id="rIdS30"/>
    <p:sldId id="331" r:id="rIdS31"/>
    <p:sldId id="332" r:id="rIdS32"/>
    <p:sldId id="333" r:id="rIdS33"/>
    <p:sldId id="334" r:id="rIdS34"/>
    <p:sldId id="335" r:id="rIdS35"/>
    <p:sldId id="336" r:id="rIdS36"/>
    <p:sldId id="337" r:id="rIdS37"/>
    <p:sldId id="338" r:id="rIdS38"/>
    <p:sldId id="339" r:id="rIdS39"/>
    <p:sldId id="340" r:id="rIdS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A9B46"/>
    <a:srgbClr val="18AD4A"/>
    <a:srgbClr val="081271"/>
    <a:srgbClr val="FFFB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handoutMaster" Target="handoutMasters/handoutMaster1.xml"/><Relationship Id="rId21" Type="http://schemas.openxmlformats.org/officeDocument/2006/relationships/theme" Target="theme/theme1.xml"/><Relationship Id="rId17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9" Type="http://schemas.openxmlformats.org/officeDocument/2006/relationships/presProps" Target="presProps.xml"/><Relationship Id="rId22" Type="http://schemas.openxmlformats.org/officeDocument/2006/relationships/tableStyles" Target="tableStyles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Relationship Id="rIdS14" Type="http://schemas.openxmlformats.org/officeDocument/2006/relationships/slide" Target="slides/slide14.xml"/><Relationship Id="rIdS15" Type="http://schemas.openxmlformats.org/officeDocument/2006/relationships/slide" Target="slides/slide15.xml"/><Relationship Id="rIdS16" Type="http://schemas.openxmlformats.org/officeDocument/2006/relationships/slide" Target="slides/slide16.xml"/><Relationship Id="rIdS17" Type="http://schemas.openxmlformats.org/officeDocument/2006/relationships/slide" Target="slides/slide17.xml"/><Relationship Id="rIdS18" Type="http://schemas.openxmlformats.org/officeDocument/2006/relationships/slide" Target="slides/slide18.xml"/><Relationship Id="rIdS19" Type="http://schemas.openxmlformats.org/officeDocument/2006/relationships/slide" Target="slides/slide19.xml"/><Relationship Id="rIdS20" Type="http://schemas.openxmlformats.org/officeDocument/2006/relationships/slide" Target="slides/slide20.xml"/><Relationship Id="rIdS21" Type="http://schemas.openxmlformats.org/officeDocument/2006/relationships/slide" Target="slides/slide21.xml"/><Relationship Id="rIdS22" Type="http://schemas.openxmlformats.org/officeDocument/2006/relationships/slide" Target="slides/slide22.xml"/><Relationship Id="rIdS23" Type="http://schemas.openxmlformats.org/officeDocument/2006/relationships/slide" Target="slides/slide23.xml"/><Relationship Id="rIdS24" Type="http://schemas.openxmlformats.org/officeDocument/2006/relationships/slide" Target="slides/slide24.xml"/><Relationship Id="rIdS25" Type="http://schemas.openxmlformats.org/officeDocument/2006/relationships/slide" Target="slides/slide25.xml"/><Relationship Id="rIdS26" Type="http://schemas.openxmlformats.org/officeDocument/2006/relationships/slide" Target="slides/slide26.xml"/><Relationship Id="rIdS27" Type="http://schemas.openxmlformats.org/officeDocument/2006/relationships/slide" Target="slides/slide27.xml"/><Relationship Id="rIdS28" Type="http://schemas.openxmlformats.org/officeDocument/2006/relationships/slide" Target="slides/slide28.xml"/><Relationship Id="rIdS29" Type="http://schemas.openxmlformats.org/officeDocument/2006/relationships/slide" Target="slides/slide29.xml"/><Relationship Id="rIdS30" Type="http://schemas.openxmlformats.org/officeDocument/2006/relationships/slide" Target="slides/slide30.xml"/><Relationship Id="rIdS31" Type="http://schemas.openxmlformats.org/officeDocument/2006/relationships/slide" Target="slides/slide31.xml"/><Relationship Id="rIdS32" Type="http://schemas.openxmlformats.org/officeDocument/2006/relationships/slide" Target="slides/slide32.xml"/><Relationship Id="rIdS33" Type="http://schemas.openxmlformats.org/officeDocument/2006/relationships/slide" Target="slides/slide33.xml"/><Relationship Id="rIdS34" Type="http://schemas.openxmlformats.org/officeDocument/2006/relationships/slide" Target="slides/slide34.xml"/><Relationship Id="rIdS35" Type="http://schemas.openxmlformats.org/officeDocument/2006/relationships/slide" Target="slides/slide35.xml"/><Relationship Id="rIdS36" Type="http://schemas.openxmlformats.org/officeDocument/2006/relationships/slide" Target="slides/slide36.xml"/><Relationship Id="rIdS37" Type="http://schemas.openxmlformats.org/officeDocument/2006/relationships/slide" Target="slides/slide37.xml"/><Relationship Id="rIdS38" Type="http://schemas.openxmlformats.org/officeDocument/2006/relationships/slide" Target="slides/slide38.xml"/><Relationship Id="rIdS39" Type="http://schemas.openxmlformats.org/officeDocument/2006/relationships/slide" Target="slides/slide39.xml"/><Relationship Id="rIdS40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07E216-FF70-2B66-D446-8AF6B921A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8E699-0BFA-7ED0-E036-13061879A3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33AC-344F-40AF-9E99-79D0BF1BA136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889DF-AB4B-4A37-9579-FEAE0F1476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Speech Processing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AFFD3-30EC-F4A9-0025-921B610F2C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E13A14-01DD-4442-9BD4-9CC7EED32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975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2E8E5-BD41-4FE3-96D2-635440A77753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Speech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9347C-ECC5-466E-9761-F92650021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802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2F458-B665-432D-ACF1-3C56F813001B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733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C15BD-94E4-4067-8A33-3C6EC4BD0B33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50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34687-F519-4EB7-A5A2-8F32F570280C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776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FD66B-7BF9-457E-8F34-7A62FFE4EC1F}" type="datetime1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612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E7592-1B5F-45CD-B707-8D5A5E58EE31}" type="datetime1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863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BBB8-8A7F-45A3-83C4-4C9477351CC6}" type="datetime1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077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5D1B-80AA-466C-8316-5AE450E66A39}" type="datetime1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563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47488-929A-4615-A557-C0AD33B297D1}" type="datetime1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52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CACE-EBE9-4116-B81B-E040F2D3F20E}" type="datetime1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2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F764-0E37-4886-B1E5-DFBF599A6490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016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FEB4-F282-4F07-B60D-731E94E7D45B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04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4EDEC-E80A-4952-9B8F-BFE95EE7B0BE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764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2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3.png"/><Relationship Id="rId11" Type="http://schemas.openxmlformats.org/officeDocument/2006/relationships/image" Target="../media/image4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5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6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7.png"/><Relationship Id="rId11" Type="http://schemas.openxmlformats.org/officeDocument/2006/relationships/image" Target="../media/image8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9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0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2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3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4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5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6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7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8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21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22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23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24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25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26.pn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27.pn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28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29.png"/><Relationship Id="rId11" Type="http://schemas.openxmlformats.org/officeDocument/2006/relationships/image" Target="../media/image30.pn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Google Shape;91;p1"/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itle 3"/>
          <p:cNvSpPr txBox="1">
            <a:spLocks/>
          </p:cNvSpPr>
          <p:nvPr/>
        </p:nvSpPr>
        <p:spPr>
          <a:xfrm>
            <a:off x="609598" y="2872601"/>
            <a:ext cx="10972800" cy="10441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Orca-RL in Stonefish: obstacle-aware RL navigation over ROS 2</a:t>
            </a:r>
          </a:p>
        </p:txBody>
      </p:sp>
      <p:sp>
        <p:nvSpPr>
          <p:cNvPr id="3" name="Rectangle 2"/>
          <p:cNvSpPr/>
          <p:nvPr/>
        </p:nvSpPr>
        <p:spPr>
          <a:xfrm>
            <a:off x="1935319" y="236845"/>
            <a:ext cx="79995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Project review – </a:t>
            </a:r>
            <a:r>
              <a:rPr lang="en-US" sz="2400" b="1" dirty="0">
                <a:solidFill>
                  <a:srgbClr val="7030A0"/>
                </a:solidFill>
              </a:rPr>
              <a:t>October 2026</a:t>
            </a:r>
          </a:p>
          <a:p>
            <a:pPr algn="ctr"/>
            <a:r>
              <a:rPr lang="it-IT" sz="2400" b="1" dirty="0"/>
              <a:t>Reinforcement Learning</a:t>
            </a:r>
            <a:endParaRPr lang="en-IN" sz="2400" b="1" dirty="0">
              <a:solidFill>
                <a:srgbClr val="7030A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077095" y="5597101"/>
            <a:ext cx="26362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the Presentation: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1</a:t>
            </a:fld>
            <a:endParaRPr lang="en-IN" dirty="0"/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005F616E-0E20-490C-B7A2-141A2087D28E}"/>
              </a:ext>
            </a:extLst>
          </p:cNvPr>
          <p:cNvSpPr txBox="1">
            <a:spLocks/>
          </p:cNvSpPr>
          <p:nvPr/>
        </p:nvSpPr>
        <p:spPr>
          <a:xfrm>
            <a:off x="597918" y="3817890"/>
            <a:ext cx="10972800" cy="6544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Vijay Srinivas P (CB.SC.U4AIE23263) · Joel Sahay D (CB.SC.U4AIE23234) · D.K. Preetham Reddy (CB.SC.U4AIE23222) · A Prithvi (CB.SC.U4AIE23201)  |  Guide: Dr. D. Palmani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E0480C-236D-3A2D-ABFD-ACE4E92B6129}"/>
              </a:ext>
            </a:extLst>
          </p:cNvPr>
          <p:cNvSpPr/>
          <p:nvPr/>
        </p:nvSpPr>
        <p:spPr>
          <a:xfrm>
            <a:off x="150810" y="5675807"/>
            <a:ext cx="4200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and Group Number: C-7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55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Outline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2</a:t>
            </a:fld>
            <a:endParaRPr lang="en-IN" dirty="0"/>
          </a:p>
        </p:txBody>
      </p:sp>
      <p:sp>
        <p:nvSpPr>
          <p:cNvPr id="101" name="Card 101"/>
          <p:cNvSpPr txBox="1"/>
          <p:nvPr/>
        </p:nvSpPr>
        <p:spPr>
          <a:xfrm>
            <a:off x="548640" y="1600200"/>
            <a:ext cx="3566160" cy="438912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0F766E"/>
                </a:solidFill>
              </a:rPr>
              <a:t>Part A · Why and how: RL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2937"/>
                </a:solidFill>
              </a:rPr>
              <a:t>Real-world situations and why this method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2937"/>
                </a:solidFill>
              </a:rPr>
              <a:t>The RL objective and reward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2937"/>
                </a:solidFill>
              </a:rPr>
              <a:t>How the objective is optimised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2937"/>
                </a:solidFill>
              </a:rPr>
              <a:t>Diagnosis of the shipped policy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2937"/>
                </a:solidFill>
              </a:rPr>
              <a:t>Training and offline results</a:t>
            </a:r>
          </a:p>
        </p:txBody>
      </p:sp>
      <p:sp>
        <p:nvSpPr>
          <p:cNvPr id="102" name="Card 102"/>
          <p:cNvSpPr txBox="1"/>
          <p:nvPr/>
        </p:nvSpPr>
        <p:spPr>
          <a:xfrm>
            <a:off x="4315968" y="1600200"/>
            <a:ext cx="3566160" cy="438912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1E3A8A"/>
                </a:solidFill>
              </a:rPr>
              <a:t>Part B · The simulation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2937"/>
                </a:solidFill>
              </a:rPr>
              <a:t>Stonefish and the Orca model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2937"/>
                </a:solidFill>
              </a:rPr>
              <a:t>The base world with obstacles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2937"/>
                </a:solidFill>
              </a:rPr>
              <a:t>Fixing the vehicle model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2937"/>
                </a:solidFill>
              </a:rPr>
              <a:t>System identification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2937"/>
                </a:solidFill>
              </a:rPr>
              <a:t>From action to thruster force</a:t>
            </a:r>
          </a:p>
        </p:txBody>
      </p:sp>
      <p:sp>
        <p:nvSpPr>
          <p:cNvPr id="103" name="Card 103"/>
          <p:cNvSpPr txBox="1"/>
          <p:nvPr/>
        </p:nvSpPr>
        <p:spPr>
          <a:xfrm>
            <a:off x="8083296" y="1600200"/>
            <a:ext cx="3566160" cy="4389120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C2410C"/>
                </a:solidFill>
              </a:rPr>
              <a:t>Part C · Connecting them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2937"/>
                </a:solidFill>
              </a:rPr>
              <a:t>Architecture over ROS 2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2937"/>
                </a:solidFill>
              </a:rPr>
              <a:t>From Gazebo to Stonefish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2937"/>
                </a:solidFill>
              </a:rPr>
              <a:t>Data exchanged, frames, timing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2937"/>
                </a:solidFill>
              </a:rPr>
              <a:t>Closed-loop results in 3 worlds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800" b="0" i="0" dirty="0">
                <a:solidFill>
                  <a:srgbClr val="1F2937"/>
                </a:solidFill>
              </a:rPr>
              <a:t>Summary, limits, next phase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Introduction and Motivation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3</a:t>
            </a:fld>
            <a:endParaRPr lang="en-IN" dirty="0"/>
          </a:p>
        </p:txBody>
      </p:sp>
      <p:sp>
        <p:nvSpPr>
          <p:cNvPr id="101" name="Text 101"/>
          <p:cNvSpPr txBox="1"/>
          <p:nvPr/>
        </p:nvSpPr>
        <p:spPr>
          <a:xfrm>
            <a:off x="548640" y="1554480"/>
            <a:ext cx="6400800" cy="4480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An extra-large uncrewed submarine such as the </a:t>
            </a:r>
            <a:r>
              <a:rPr lang="en-US" sz="1700" b="1" i="0" dirty="0">
                <a:solidFill>
                  <a:srgbClr val="1F2937"/>
                </a:solidFill>
              </a:rPr>
              <a:t>Boeing Orca</a:t>
            </a:r>
            <a:r>
              <a:rPr lang="en-US" sz="1700" b="0" i="0" dirty="0">
                <a:solidFill>
                  <a:srgbClr val="1F2937"/>
                </a:solidFill>
              </a:rPr>
              <a:t> has to survey long distances </a:t>
            </a:r>
            <a:r>
              <a:rPr lang="en-US" sz="1700" b="1" i="0" dirty="0">
                <a:solidFill>
                  <a:srgbClr val="1F2937"/>
                </a:solidFill>
              </a:rPr>
              <a:t>without GPS</a:t>
            </a:r>
            <a:r>
              <a:rPr lang="en-US" sz="1700" b="0" i="0" dirty="0">
                <a:solidFill>
                  <a:srgbClr val="1F2937"/>
                </a:solidFill>
              </a:rPr>
              <a:t>, with a position estimate that degrades underwater.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The mid-review delivered a reinforcement-learning stack (physics, sensors, particle filter, safety shield, trained policy) and, separately, a </a:t>
            </a:r>
            <a:r>
              <a:rPr lang="en-US" sz="1700" b="1" i="0" dirty="0">
                <a:solidFill>
                  <a:srgbClr val="1F2937"/>
                </a:solidFill>
              </a:rPr>
              <a:t>Stonefish</a:t>
            </a:r>
            <a:r>
              <a:rPr lang="en-US" sz="1700" b="0" i="0" dirty="0">
                <a:solidFill>
                  <a:srgbClr val="1F2937"/>
                </a:solidFill>
              </a:rPr>
              <a:t> simulator with survey scenarios.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The two tracks were </a:t>
            </a:r>
            <a:r>
              <a:rPr lang="en-US" sz="1700" b="1" i="0" dirty="0">
                <a:solidFill>
                  <a:srgbClr val="1F2937"/>
                </a:solidFill>
              </a:rPr>
              <a:t>not connected</a:t>
            </a:r>
            <a:r>
              <a:rPr lang="en-US" sz="1700" b="0" i="0" dirty="0">
                <a:solidFill>
                  <a:srgbClr val="1F2937"/>
                </a:solidFill>
              </a:rPr>
              <a:t>: the bridge between them assumed a different simulator (Gazebo) and the Stonefish scenes used a hand-written reactive controller.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This phase connects them: the RL policy now </a:t>
            </a:r>
            <a:r>
              <a:rPr lang="en-US" sz="1700" b="1" i="0" dirty="0">
                <a:solidFill>
                  <a:srgbClr val="1F2937"/>
                </a:solidFill>
              </a:rPr>
              <a:t>drives the Stonefish Orca over ROS 2</a:t>
            </a:r>
            <a:r>
              <a:rPr lang="en-US" sz="1700" b="0" i="0" dirty="0">
                <a:solidFill>
                  <a:srgbClr val="1F2937"/>
                </a:solidFill>
              </a:rPr>
              <a:t> and avoids rocks, fish and other submarines </a:t>
            </a:r>
            <a:r>
              <a:rPr lang="en-US" sz="1700" b="1" i="0" dirty="0">
                <a:solidFill>
                  <a:srgbClr val="1F2937"/>
                </a:solidFill>
              </a:rPr>
              <a:t>using only its own sonar</a:t>
            </a:r>
            <a:r>
              <a:rPr lang="en-US" sz="1700" b="0" i="0" dirty="0">
                <a:solidFill>
                  <a:srgbClr val="1F2937"/>
                </a:solidFill>
              </a:rPr>
              <a:t>.</a:t>
            </a:r>
          </a:p>
        </p:txBody>
      </p:sp>
      <p:pic>
        <p:nvPicPr>
          <p:cNvPr id="102" name="Picture 102" descr="stonefish_orca_vie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3760" y="1858009"/>
            <a:ext cx="4480560" cy="2776222"/>
          </a:xfrm>
          <a:prstGeom prst="rect">
            <a:avLst/>
          </a:prstGeom>
        </p:spPr>
      </p:pic>
      <p:sp>
        <p:nvSpPr>
          <p:cNvPr id="103" name="Caption 103"/>
          <p:cNvSpPr txBox="1"/>
          <p:nvPr/>
        </p:nvSpPr>
        <p:spPr>
          <a:xfrm>
            <a:off x="7223760" y="457200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475569"/>
                </a:solidFill>
              </a:rPr>
              <a:t>Stonefish: the Orca among rock pinnacles in the obstacle world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Real-World Situations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4</a:t>
            </a:fld>
            <a:endParaRPr lang="en-IN" dirty="0"/>
          </a:p>
        </p:txBody>
      </p:sp>
      <p:sp>
        <p:nvSpPr>
          <p:cNvPr id="101" name="Card 101"/>
          <p:cNvSpPr txBox="1"/>
          <p:nvPr/>
        </p:nvSpPr>
        <p:spPr>
          <a:xfrm>
            <a:off x="548640" y="1554480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800" b="1" i="0" dirty="0">
                <a:solidFill>
                  <a:srgbClr val="C2410C"/>
                </a:solidFill>
              </a:rPr>
              <a:t>Charts are incomplete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2005: a US Navy submarine struck an undersea mountain near Guam that was missing from its charts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2021: another struck an uncharted seamount in the South China Sea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A pre-planned route is not enough: the vehicle must sense and react</a:t>
            </a:r>
          </a:p>
        </p:txBody>
      </p:sp>
      <p:sp>
        <p:nvSpPr>
          <p:cNvPr id="102" name="Card 102"/>
          <p:cNvSpPr txBox="1"/>
          <p:nvPr/>
        </p:nvSpPr>
        <p:spPr>
          <a:xfrm>
            <a:off x="6217920" y="1554480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800" b="1" i="0" dirty="0">
                <a:solidFill>
                  <a:srgbClr val="1E3A8A"/>
                </a:solidFill>
              </a:rPr>
              <a:t>No GPS under water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Below the surface only inertial and Doppler (DVL) dead reckoning is available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The error grows with distance; a long-range vehicle cannot keep surfacing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Decisions must be made on an uncertain estimate</a:t>
            </a:r>
          </a:p>
        </p:txBody>
      </p:sp>
      <p:sp>
        <p:nvSpPr>
          <p:cNvPr id="103" name="Card 103"/>
          <p:cNvSpPr txBox="1"/>
          <p:nvPr/>
        </p:nvSpPr>
        <p:spPr>
          <a:xfrm>
            <a:off x="548640" y="3840480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800" b="1" i="0" dirty="0">
                <a:solidFill>
                  <a:srgbClr val="0F766E"/>
                </a:solidFill>
              </a:rPr>
              <a:t>Long survey missions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Seabed mapping, pipeline and cable routes, wind-farm sites, search operations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2014: deep-sea vehicles searched the seabed for weeks for flight MH370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Lawnmower lanes, hours of autonomy, limited battery</a:t>
            </a:r>
          </a:p>
        </p:txBody>
      </p:sp>
      <p:sp>
        <p:nvSpPr>
          <p:cNvPr id="104" name="Card 104"/>
          <p:cNvSpPr txBox="1"/>
          <p:nvPr/>
        </p:nvSpPr>
        <p:spPr>
          <a:xfrm>
            <a:off x="6217920" y="3840480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800" b="1" i="0" dirty="0">
                <a:solidFill>
                  <a:srgbClr val="7C3AED"/>
                </a:solidFill>
              </a:rPr>
              <a:t>Shared, moving water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Fish schools, marine mammals, other survey vehicles, ship traffic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Obstacles appear without warning and move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Losing a vehicle is costly: Autosub2 was lost under an Antarctic ice shelf in 2005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Why This Method Is Proposed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5</a:t>
            </a:fld>
            <a:endParaRPr lang="en-IN" dirty="0"/>
          </a:p>
        </p:txBody>
      </p:sp>
      <p:pic>
        <p:nvPicPr>
          <p:cNvPr id="101" name="Picture 101" descr="20_motivation_ma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7943" y="1417320"/>
            <a:ext cx="8130914" cy="3931920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8549640" y="1508760"/>
            <a:ext cx="3291840" cy="4572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1E3A8A"/>
                </a:solidFill>
              </a:rPr>
              <a:t>Why reinforcement learning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A hand-tuned planner trades goals against clearance poorly: it collides in 28% of test missions, the learned policy in 13%.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1E3A8A"/>
                </a:solidFill>
              </a:rPr>
              <a:t>Why a safety shield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Learned behaviour is not a guarantee; hard rules wrap it.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1E3A8A"/>
                </a:solidFill>
              </a:rPr>
              <a:t>Why simulation first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Collisions cannot be tested on a 50-tonne vehicle; Stonefish gives real physics and sensors.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48640" y="544068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400" b="0" i="0" dirty="0">
                <a:solidFill>
                  <a:srgbClr val="475569"/>
                </a:solidFill>
              </a:rPr>
              <a:t>Each situation on the left maps to one design element of this work.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Literature Review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6</a:t>
            </a:fld>
            <a:endParaRPr lang="en-IN" dirty="0"/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457200" y="1554480"/>
          <a:ext cx="11247120" cy="44805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743200"/>
                <a:gridCol w="1371600"/>
                <a:gridCol w="2286000"/>
                <a:gridCol w="2286000"/>
                <a:gridCol w="2011680"/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i="0" dirty="0">
                          <a:solidFill>
                            <a:srgbClr val="FFFFFF"/>
                          </a:solidFill>
                        </a:rPr>
                        <a:t>Sl No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i="0" dirty="0">
                          <a:solidFill>
                            <a:srgbClr val="FFFFFF"/>
                          </a:solidFill>
                        </a:rPr>
                        <a:t>Title and year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i="0" dirty="0">
                          <a:solidFill>
                            <a:srgbClr val="FFFFFF"/>
                          </a:solidFill>
                        </a:rPr>
                        <a:t>Venue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i="0" dirty="0">
                          <a:solidFill>
                            <a:srgbClr val="FFFFFF"/>
                          </a:solidFill>
                        </a:rPr>
                        <a:t>Methodology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i="0" dirty="0">
                          <a:solidFill>
                            <a:srgbClr val="FFFFFF"/>
                          </a:solidFill>
                        </a:rPr>
                        <a:t>Key findings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i="0" dirty="0">
                          <a:solidFill>
                            <a:srgbClr val="FFFFFF"/>
                          </a:solidFill>
                        </a:rPr>
                        <a:t>Limitations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i="0" dirty="0">
                          <a:solidFill>
                            <a:srgbClr val="1F2937"/>
                          </a:solidFill>
                        </a:rPr>
                        <a:t>1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Evolution Strategies as a Scalable Alternative to RL (2017)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arXiv / OpenAI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Antithetic Gaussian perturbations, rank-shaped fitness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Matches policy-gradient RL on control; trivially parallel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Sample-hungry; slow from scratch on sparse tasks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i="0" dirty="0">
                          <a:solidFill>
                            <a:srgbClr val="1F2937"/>
                          </a:solidFill>
                        </a:rPr>
                        <a:t>2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Proximal Policy Optimization (2017)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arXiv / OpenAI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Clipped surrogate policy gradient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Stable on-policy RL baseline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Needs automatic differentiation and a deep-learning toolchain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i="0" dirty="0">
                          <a:solidFill>
                            <a:srgbClr val="1F2937"/>
                          </a:solidFill>
                        </a:rPr>
                        <a:t>3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Handbook of Marine Craft Hydrodynamics (2011)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Wiley (Fossen)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Rigid-body + hydrodynamic modelling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Standard UUV dynamics used in our fast simulator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Parameters for Orca not public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i="0" dirty="0">
                          <a:solidFill>
                            <a:srgbClr val="1F2937"/>
                          </a:solidFill>
                        </a:rPr>
                        <a:t>4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Stonefish: open-source marine robotics simulator (2019)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IEEE/OES OCEANS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Bullet physics + hydrodynamics + sonar/DVL models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Realistic sensors, ROS interface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Scripted bodies never yield; no run-time reset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i="0" dirty="0">
                          <a:solidFill>
                            <a:srgbClr val="1F2937"/>
                          </a:solidFill>
                        </a:rPr>
                        <a:t>5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UUV Simulator (2016)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IEEE/MTS OCEANS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Gazebo plugins for UUVs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Common ROS UUV stack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Gazebo Classic; the old bridge assumed it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i="0" dirty="0">
                          <a:solidFill>
                            <a:srgbClr val="1F2937"/>
                          </a:solidFill>
                        </a:rPr>
                        <a:t>6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DAgger: imitation learning with no-regret online learning (2011)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AISTATS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Iterative relabelling of learner-visited states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Fixes covariate shift of behaviour cloning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i="0" dirty="0">
                          <a:solidFill>
                            <a:srgbClr val="1F2937"/>
                          </a:solidFill>
                        </a:rPr>
                        <a:t>Needs an expert to query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Objectives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7</a:t>
            </a:fld>
            <a:endParaRPr lang="en-IN" dirty="0"/>
          </a:p>
        </p:txBody>
      </p:sp>
      <p:sp>
        <p:nvSpPr>
          <p:cNvPr id="101" name="Num 101"/>
          <p:cNvSpPr txBox="1"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1A9B4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2000" b="0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2" name="Obj 102"/>
          <p:cNvSpPr txBox="1"/>
          <p:nvPr/>
        </p:nvSpPr>
        <p:spPr>
          <a:xfrm>
            <a:off x="1417320" y="1618488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</a:rPr>
              <a:t>Make the Stonefish application ROS 2-aware and drive the real Orca thrusters</a:t>
            </a:r>
          </a:p>
        </p:txBody>
      </p:sp>
      <p:sp>
        <p:nvSpPr>
          <p:cNvPr id="103" name="Num 103"/>
          <p:cNvSpPr txBox="1"/>
          <p:nvPr/>
        </p:nvSpPr>
        <p:spPr>
          <a:xfrm>
            <a:off x="640080" y="2331720"/>
            <a:ext cx="566928" cy="566928"/>
          </a:xfrm>
          <a:prstGeom prst="ellipse">
            <a:avLst/>
          </a:prstGeom>
          <a:solidFill>
            <a:srgbClr val="1A9B4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2000" b="0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4" name="Obj 104"/>
          <p:cNvSpPr txBox="1"/>
          <p:nvPr/>
        </p:nvSpPr>
        <p:spPr>
          <a:xfrm>
            <a:off x="1417320" y="2350008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</a:rPr>
              <a:t>Rewrite the Python bridge for Stonefish: real sensors in, physical setpoints out</a:t>
            </a:r>
          </a:p>
        </p:txBody>
      </p:sp>
      <p:sp>
        <p:nvSpPr>
          <p:cNvPr id="105" name="Num 105"/>
          <p:cNvSpPr txBox="1"/>
          <p:nvPr/>
        </p:nvSpPr>
        <p:spPr>
          <a:xfrm>
            <a:off x="640080" y="3063240"/>
            <a:ext cx="566928" cy="566928"/>
          </a:xfrm>
          <a:prstGeom prst="ellipse">
            <a:avLst/>
          </a:prstGeom>
          <a:solidFill>
            <a:srgbClr val="1A9B4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2000" b="0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6" name="Obj 106"/>
          <p:cNvSpPr txBox="1"/>
          <p:nvPr/>
        </p:nvSpPr>
        <p:spPr>
          <a:xfrm>
            <a:off x="1417320" y="3081528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</a:rPr>
              <a:t>Keep the RL methodology: localisation, health monitoring, safety shield, network + ES</a:t>
            </a:r>
          </a:p>
        </p:txBody>
      </p:sp>
      <p:sp>
        <p:nvSpPr>
          <p:cNvPr id="107" name="Num 107"/>
          <p:cNvSpPr txBox="1"/>
          <p:nvPr/>
        </p:nvSpPr>
        <p:spPr>
          <a:xfrm>
            <a:off x="640080" y="3794760"/>
            <a:ext cx="566928" cy="566928"/>
          </a:xfrm>
          <a:prstGeom prst="ellipse">
            <a:avLst/>
          </a:prstGeom>
          <a:solidFill>
            <a:srgbClr val="1A9B4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2000" b="0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8" name="Obj 108"/>
          <p:cNvSpPr txBox="1"/>
          <p:nvPr/>
        </p:nvSpPr>
        <p:spPr>
          <a:xfrm>
            <a:off x="1417320" y="3813048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</a:rPr>
              <a:t>Give the policy goal and sonar inputs and train it to avoid obstacles</a:t>
            </a:r>
          </a:p>
        </p:txBody>
      </p:sp>
      <p:sp>
        <p:nvSpPr>
          <p:cNvPr id="109" name="Num 109"/>
          <p:cNvSpPr txBox="1"/>
          <p:nvPr/>
        </p:nvSpPr>
        <p:spPr>
          <a:xfrm>
            <a:off x="640080" y="4526280"/>
            <a:ext cx="566928" cy="566928"/>
          </a:xfrm>
          <a:prstGeom prst="ellipse">
            <a:avLst/>
          </a:prstGeom>
          <a:solidFill>
            <a:srgbClr val="1A9B4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2000" b="0" i="0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10" name="Obj 110"/>
          <p:cNvSpPr txBox="1"/>
          <p:nvPr/>
        </p:nvSpPr>
        <p:spPr>
          <a:xfrm>
            <a:off x="1417320" y="4544568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</a:rPr>
              <a:t>Add obstacles, fish schools and a traffic submarine to the base world</a:t>
            </a:r>
          </a:p>
        </p:txBody>
      </p:sp>
      <p:sp>
        <p:nvSpPr>
          <p:cNvPr id="111" name="Num 111"/>
          <p:cNvSpPr txBox="1"/>
          <p:nvPr/>
        </p:nvSpPr>
        <p:spPr>
          <a:xfrm>
            <a:off x="640080" y="5257800"/>
            <a:ext cx="566928" cy="566928"/>
          </a:xfrm>
          <a:prstGeom prst="ellipse">
            <a:avLst/>
          </a:prstGeom>
          <a:solidFill>
            <a:srgbClr val="1A9B46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2000" b="0" i="0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12" name="Obj 112"/>
          <p:cNvSpPr txBox="1"/>
          <p:nvPr/>
        </p:nvSpPr>
        <p:spPr>
          <a:xfrm>
            <a:off x="1417320" y="5276088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2000" b="0" i="0" dirty="0">
                <a:solidFill>
                  <a:srgbClr val="1F2937"/>
                </a:solidFill>
              </a:rPr>
              <a:t>Verify step by step, and report honestly where it fails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Part A · RL Formulation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8</a:t>
            </a:fld>
            <a:endParaRPr lang="en-IN" dirty="0"/>
          </a:p>
        </p:txBody>
      </p:sp>
      <p:sp>
        <p:nvSpPr>
          <p:cNvPr id="101" name="Card 101"/>
          <p:cNvSpPr txBox="1"/>
          <p:nvPr/>
        </p:nvSpPr>
        <p:spPr>
          <a:xfrm>
            <a:off x="548640" y="160020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900" b="1" i="0" dirty="0">
                <a:solidFill>
                  <a:srgbClr val="1E3A8A"/>
                </a:solidFill>
              </a:rPr>
              <a:t>State (observation)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Estimated position, depth, heading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Uncertainty, battery, thruster wear, navigation residual, depth margin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Terrain richness, risk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New: goal bearing and distance, sonar sectors, flank clearances, depth error</a:t>
            </a:r>
          </a:p>
        </p:txBody>
      </p:sp>
      <p:sp>
        <p:nvSpPr>
          <p:cNvPr id="102" name="Card 102"/>
          <p:cNvSpPr txBox="1"/>
          <p:nvPr/>
        </p:nvSpPr>
        <p:spPr>
          <a:xfrm>
            <a:off x="4343400" y="1600200"/>
            <a:ext cx="3474720" cy="438912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900" b="1" i="0" dirty="0">
                <a:solidFill>
                  <a:srgbClr val="0F766E"/>
                </a:solidFill>
              </a:rPr>
              <a:t>Action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a ∈ [-1, 1]³ from a 2 x 64 tanh network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speed, yaw rate, depth rate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scaled to what the vehicle can do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then the safety shield, then ROS 2</a:t>
            </a:r>
          </a:p>
        </p:txBody>
      </p:sp>
      <p:sp>
        <p:nvSpPr>
          <p:cNvPr id="103" name="Card 103"/>
          <p:cNvSpPr txBox="1"/>
          <p:nvPr/>
        </p:nvSpPr>
        <p:spPr>
          <a:xfrm>
            <a:off x="7955280" y="1600200"/>
            <a:ext cx="3749040" cy="4389120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900" b="1" i="0" dirty="0">
                <a:solidFill>
                  <a:srgbClr val="C2410C"/>
                </a:solidFill>
              </a:rPr>
              <a:t>Reward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+ progress toward the waypoint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- uncertainty, - risk, - energy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- shield overrides, - idling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+ waypoint bonus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- collision (episode ends)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The RL Objective: What Is Optimised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9</a:t>
            </a:fld>
            <a:endParaRPr lang="en-IN" dirty="0"/>
          </a:p>
        </p:txBody>
      </p:sp>
      <p:pic>
        <p:nvPicPr>
          <p:cNvPr id="101" name="Picture 101" descr="eq_objectiv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5539" y="1600200"/>
            <a:ext cx="7850443" cy="868680"/>
          </a:xfrm>
          <a:prstGeom prst="rect">
            <a:avLst/>
          </a:prstGeom>
        </p:spPr>
      </p:pic>
      <p:pic>
        <p:nvPicPr>
          <p:cNvPr id="102" name="Picture 102" descr="eq_polic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2745816"/>
            <a:ext cx="10881360" cy="451969"/>
          </a:xfrm>
          <a:prstGeom prst="rect">
            <a:avLst/>
          </a:prstGeom>
        </p:spPr>
      </p:pic>
      <p:sp>
        <p:nvSpPr>
          <p:cNvPr id="103" name="Card 103"/>
          <p:cNvSpPr txBox="1"/>
          <p:nvPr/>
        </p:nvSpPr>
        <p:spPr>
          <a:xfrm>
            <a:off x="548640" y="356616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900" b="1" i="0" dirty="0">
                <a:solidFill>
                  <a:srgbClr val="0F766E"/>
                </a:solidFill>
              </a:rPr>
              <a:t>What is optimised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θ: the 5,891 weights and biases of the policy network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J(θ): the expected total reward of one mission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Expectation over random worlds: start, obstacles, fish, currents, waypoints</a:t>
            </a:r>
          </a:p>
        </p:txBody>
      </p:sp>
      <p:sp>
        <p:nvSpPr>
          <p:cNvPr id="104" name="Card 104"/>
          <p:cNvSpPr txBox="1"/>
          <p:nvPr/>
        </p:nvSpPr>
        <p:spPr>
          <a:xfrm>
            <a:off x="6217920" y="356616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900" b="1" i="0" dirty="0">
                <a:solidFill>
                  <a:srgbClr val="1E3A8A"/>
                </a:solidFill>
              </a:rPr>
              <a:t>Episode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1 s per step, up to 420 steps (7 min), 3 waypoints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Ends at the last waypoint, on collision or on time-out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Undiscounted total reward: missions are finite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The Reward Function, Term by Term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10</a:t>
            </a:fld>
            <a:endParaRPr lang="en-IN" dirty="0"/>
          </a:p>
        </p:txBody>
      </p:sp>
      <p:pic>
        <p:nvPicPr>
          <p:cNvPr id="101" name="Picture 101" descr="eq_rew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1548014"/>
            <a:ext cx="11247120" cy="488419"/>
          </a:xfrm>
          <a:prstGeom prst="rect">
            <a:avLst/>
          </a:prstGeom>
        </p:spPr>
      </p:pic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457200" y="2240280"/>
          <a:ext cx="11247120" cy="3785616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1371600"/>
                <a:gridCol w="4023360"/>
                <a:gridCol w="3474720"/>
              </a:tblGrid>
              <a:tr h="420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</a:rPr>
                        <a:t>What it measures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</a:rPr>
                        <a:t>Real-world meaning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i="0" dirty="0">
                          <a:solidFill>
                            <a:srgbClr val="1F2937"/>
                          </a:solidFill>
                        </a:rPr>
                        <a:t>Progress  Δd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1.0 per m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drop in estimated distance to the waypoint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get the survey done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i="0" dirty="0">
                          <a:solidFill>
                            <a:srgbClr val="1F2937"/>
                          </a:solidFill>
                        </a:rPr>
                        <a:t>Waypoint bonus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200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waypoint reached (within 10 m)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mission completion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i="0" dirty="0">
                          <a:solidFill>
                            <a:srgbClr val="1F2937"/>
                          </a:solidFill>
                        </a:rPr>
                        <a:t>Uncertainty  σ²/100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0.0025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spread of the particle filter (m²)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stay localisable without GPS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i="0" dirty="0">
                          <a:solidFill>
                            <a:srgbClr val="1F2937"/>
                          </a:solidFill>
                        </a:rPr>
                        <a:t>Risk  ρ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0.4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sonar proximity and low altitude, 0 to 1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keep a safe margin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i="0" dirty="0">
                          <a:solidFill>
                            <a:srgbClr val="1F2937"/>
                          </a:solidFill>
                        </a:rPr>
                        <a:t>Energy  E/100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0.02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watt-hours used this step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battery endurance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i="0" dirty="0">
                          <a:solidFill>
                            <a:srgbClr val="1F2937"/>
                          </a:solidFill>
                        </a:rPr>
                        <a:t>Shield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1.5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the safety shield had to override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do not lean on the safety net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i="0" dirty="0">
                          <a:solidFill>
                            <a:srgbClr val="1F2937"/>
                          </a:solidFill>
                        </a:rPr>
                        <a:t>Idle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0.5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speed below 0.2 m/s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do not stall to avoid penalties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i="0" dirty="0">
                          <a:solidFill>
                            <a:srgbClr val="1F2937"/>
                          </a:solidFill>
                        </a:rPr>
                        <a:t>Collision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300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hull touched an obstacle; episode ends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i="0" dirty="0">
                          <a:solidFill>
                            <a:srgbClr val="1F2937"/>
                          </a:solidFill>
                        </a:rPr>
                        <a:t>losing the vehicle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From Action to a Safe Command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11</a:t>
            </a:fld>
            <a:endParaRPr lang="en-IN" dirty="0"/>
          </a:p>
        </p:txBody>
      </p:sp>
      <p:pic>
        <p:nvPicPr>
          <p:cNvPr id="101" name="Picture 101" descr="eq_act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1613407"/>
            <a:ext cx="11247120" cy="449074"/>
          </a:xfrm>
          <a:prstGeom prst="rect">
            <a:avLst/>
          </a:prstGeom>
        </p:spPr>
      </p:pic>
      <p:sp>
        <p:nvSpPr>
          <p:cNvPr id="102" name="Card 102"/>
          <p:cNvSpPr txBox="1"/>
          <p:nvPr/>
        </p:nvSpPr>
        <p:spPr>
          <a:xfrm>
            <a:off x="548640" y="237744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900" b="1" i="0" dirty="0">
                <a:solidFill>
                  <a:srgbClr val="1E3A8A"/>
                </a:solidFill>
              </a:rPr>
              <a:t>Limits from the real vehicle model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Top speed 1.1 m/s (40 kN main thruster)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Yaw rate up to 0.045 rad/s, less at higher speed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Depth rate up to 0.3 m/s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Identified on the Stonefish Orca, not assumed</a:t>
            </a:r>
          </a:p>
        </p:txBody>
      </p:sp>
      <p:sp>
        <p:nvSpPr>
          <p:cNvPr id="103" name="Card 103"/>
          <p:cNvSpPr txBox="1"/>
          <p:nvPr/>
        </p:nvSpPr>
        <p:spPr>
          <a:xfrm>
            <a:off x="6217920" y="2377440"/>
            <a:ext cx="5486400" cy="3611880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900" b="1" i="0" dirty="0">
                <a:solidFill>
                  <a:srgbClr val="C2410C"/>
                </a:solidFill>
              </a:rPr>
              <a:t>Shield applied after the policy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Original rules: depth rating, battery reserve, localisation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New rules: obstacle stop / slow, seabed floor, depth band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Uses sensor-derived quantities only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Each override costs reward (the shield term)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How the Objective Is Optimised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12</a:t>
            </a:fld>
            <a:endParaRPr lang="en-IN" dirty="0"/>
          </a:p>
        </p:txBody>
      </p:sp>
      <p:sp>
        <p:nvSpPr>
          <p:cNvPr id="101" name="Text 101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b="1" i="0" dirty="0">
                <a:solidFill>
                  <a:srgbClr val="1E3A8A"/>
                </a:solidFill>
              </a:rPr>
              <a:t>1  Warm start: imitate a classical planner (behaviour cloning + one DAgger round)</a:t>
            </a:r>
          </a:p>
        </p:txBody>
      </p:sp>
      <p:pic>
        <p:nvPicPr>
          <p:cNvPr id="102" name="Picture 102" descr="eq_b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4771" y="1965960"/>
            <a:ext cx="4439898" cy="777240"/>
          </a:xfrm>
          <a:prstGeom prst="rect">
            <a:avLst/>
          </a:prstGeom>
        </p:spPr>
      </p:pic>
      <p:sp>
        <p:nvSpPr>
          <p:cNvPr id="103" name="Text 103"/>
          <p:cNvSpPr txBox="1"/>
          <p:nvPr/>
        </p:nvSpPr>
        <p:spPr>
          <a:xfrm>
            <a:off x="6492240" y="1920240"/>
            <a:ext cx="521208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400" b="0" i="0" dirty="0">
                <a:solidFill>
                  <a:srgbClr val="475569"/>
                </a:solidFill>
              </a:rPr>
              <a:t>111k planner samples + 25k relabelled states; Adam, mean-squared error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548640" y="29260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b="1" i="0" dirty="0">
                <a:solidFill>
                  <a:srgbClr val="1E3A8A"/>
                </a:solidFill>
              </a:rPr>
              <a:t>2  Optimise J(θ) directly with Evolution Strategies</a:t>
            </a:r>
          </a:p>
        </p:txBody>
      </p:sp>
      <p:pic>
        <p:nvPicPr>
          <p:cNvPr id="105" name="Picture 105" descr="eq_e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3386367"/>
            <a:ext cx="6675120" cy="771066"/>
          </a:xfrm>
          <a:prstGeom prst="rect">
            <a:avLst/>
          </a:prstGeom>
        </p:spPr>
      </p:pic>
      <p:sp>
        <p:nvSpPr>
          <p:cNvPr id="106" name="Card 106"/>
          <p:cNvSpPr txBox="1"/>
          <p:nvPr/>
        </p:nvSpPr>
        <p:spPr>
          <a:xfrm>
            <a:off x="7680960" y="3337560"/>
            <a:ext cx="4023360" cy="269748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766E"/>
                </a:solidFill>
              </a:rPr>
              <a:t>Settings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n = 48 (24 mirrored pairs)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σ = 0.03, α = 0.01, 200 generations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4 shared episodes per candidate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rank shaping R(·) in [-0.5, 0.5]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48640" y="4389120"/>
            <a:ext cx="6949440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No gradient through the simulator is needed; works with the abrupt collision penalty.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Every candidate is an independent mission, so 14 cores evaluate in parallel.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The Shipped Policy: Training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13</a:t>
            </a:fld>
            <a:endParaRPr lang="en-IN" dirty="0"/>
          </a:p>
        </p:txBody>
      </p:sp>
      <p:pic>
        <p:nvPicPr>
          <p:cNvPr id="101" name="Picture 101" descr="01_original_es_train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819" y="1554480"/>
            <a:ext cx="6942203" cy="3931920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7680960" y="1645920"/>
            <a:ext cx="4023360" cy="42062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Trained with </a:t>
            </a:r>
            <a:r>
              <a:rPr lang="en-US" sz="1600" b="1" i="0" dirty="0">
                <a:solidFill>
                  <a:srgbClr val="1F2937"/>
                </a:solidFill>
              </a:rPr>
              <a:t>Evolution Strategies</a:t>
            </a:r>
            <a:r>
              <a:rPr lang="en-US" sz="1600" b="0" i="0" dirty="0">
                <a:solidFill>
                  <a:srgbClr val="1F2937"/>
                </a:solidFill>
              </a:rPr>
              <a:t> for 120 generations on the original 12-input environment.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Mean return rises from -3000 to about -100: the population learns to </a:t>
            </a:r>
            <a:r>
              <a:rPr lang="en-US" sz="1600" b="1" i="0" dirty="0">
                <a:solidFill>
                  <a:srgbClr val="1F2937"/>
                </a:solidFill>
              </a:rPr>
              <a:t>avoid penalties</a:t>
            </a:r>
            <a:r>
              <a:rPr lang="en-US" sz="1600" b="0" i="0" dirty="0">
                <a:solidFill>
                  <a:srgbClr val="1F2937"/>
                </a:solidFill>
              </a:rPr>
              <a:t>, not to reach goals.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We kept this policy unchanged; it can still be selected at run time.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Diagnosis: Why It Cannot Navigate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14</a:t>
            </a:fld>
            <a:endParaRPr lang="en-IN" dirty="0"/>
          </a:p>
        </p:txBody>
      </p:sp>
      <p:pic>
        <p:nvPicPr>
          <p:cNvPr id="101" name="Picture 101" descr="02_original_policy_prob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586" y="1508760"/>
            <a:ext cx="7342189" cy="3017520"/>
          </a:xfrm>
          <a:prstGeom prst="rect">
            <a:avLst/>
          </a:prstGeom>
        </p:spPr>
      </p:pic>
      <p:sp>
        <p:nvSpPr>
          <p:cNvPr id="102" name="Stat 102"/>
          <p:cNvSpPr txBox="1"/>
          <p:nvPr/>
        </p:nvSpPr>
        <p:spPr>
          <a:xfrm>
            <a:off x="8595360" y="1645920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3600" b="0" i="0" dirty="0">
                <a:solidFill>
                  <a:srgbClr val="C2410C"/>
                </a:solidFill>
              </a:rPr>
              <a:t>0 / 5</a:t>
            </a:r>
          </a:p>
        </p:txBody>
      </p:sp>
      <p:sp>
        <p:nvSpPr>
          <p:cNvPr id="103" name="StatLabel 103"/>
          <p:cNvSpPr txBox="1"/>
          <p:nvPr/>
        </p:nvSpPr>
        <p:spPr>
          <a:xfrm>
            <a:off x="8595360" y="2816352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475569"/>
                </a:solidFill>
              </a:rPr>
              <a:t>goals reached in its own evaluation</a:t>
            </a:r>
          </a:p>
        </p:txBody>
      </p:sp>
      <p:sp>
        <p:nvSpPr>
          <p:cNvPr id="104" name="Stat 104"/>
          <p:cNvSpPr txBox="1"/>
          <p:nvPr/>
        </p:nvSpPr>
        <p:spPr>
          <a:xfrm>
            <a:off x="8595360" y="3337560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3600" b="0" i="0" dirty="0">
                <a:solidFill>
                  <a:srgbClr val="C2410C"/>
                </a:solidFill>
              </a:rPr>
              <a:t>+1.0</a:t>
            </a:r>
          </a:p>
        </p:txBody>
      </p:sp>
      <p:sp>
        <p:nvSpPr>
          <p:cNvPr id="105" name="StatLabel 105"/>
          <p:cNvSpPr txBox="1"/>
          <p:nvPr/>
        </p:nvSpPr>
        <p:spPr>
          <a:xfrm>
            <a:off x="8595360" y="4507992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475569"/>
                </a:solidFill>
              </a:rPr>
              <a:t>yaw output, for every heading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548640" y="470916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The observation contains </a:t>
            </a:r>
            <a:r>
              <a:rPr lang="en-US" sz="1600" b="1" i="0" dirty="0">
                <a:solidFill>
                  <a:srgbClr val="1F2937"/>
                </a:solidFill>
              </a:rPr>
              <a:t>no goal and no obstacle information</a:t>
            </a:r>
            <a:r>
              <a:rPr lang="en-US" sz="1600" b="0" i="0" dirty="0">
                <a:solidFill>
                  <a:srgbClr val="1F2937"/>
                </a:solidFill>
              </a:rPr>
              <a:t>, so no policy trained on it can steer to a waypoint or around a rock.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In Stonefish it does exactly what the probe predicts: a tight circle near the start (1 of 10 waypoints in 200 s).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A Sonar-Aware Observation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15</a:t>
            </a:fld>
            <a:endParaRPr lang="en-IN" dirty="0"/>
          </a:p>
        </p:txBody>
      </p:sp>
      <p:pic>
        <p:nvPicPr>
          <p:cNvPr id="101" name="Picture 101" descr="04_observation_layou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8470" y="1554480"/>
            <a:ext cx="10444581" cy="2560320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548640" y="42062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The </a:t>
            </a:r>
            <a:r>
              <a:rPr lang="en-US" sz="1600" b="1" i="0" dirty="0">
                <a:solidFill>
                  <a:srgbClr val="1F2937"/>
                </a:solidFill>
              </a:rPr>
              <a:t>first 12 inputs are unchanged</a:t>
            </a:r>
            <a:r>
              <a:rPr lang="en-US" sz="1600" b="0" i="0" dirty="0">
                <a:solidFill>
                  <a:srgbClr val="1F2937"/>
                </a:solidFill>
              </a:rPr>
              <a:t>, same order and formulas.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+3 goal inputs from the next waypoint, using the </a:t>
            </a:r>
            <a:r>
              <a:rPr lang="en-US" sz="1600" b="1" i="0" dirty="0">
                <a:solidFill>
                  <a:srgbClr val="1F2937"/>
                </a:solidFill>
              </a:rPr>
              <a:t>estimated</a:t>
            </a:r>
            <a:r>
              <a:rPr lang="en-US" sz="1600" b="0" i="0" dirty="0">
                <a:solidFill>
                  <a:srgbClr val="1F2937"/>
                </a:solidFill>
              </a:rPr>
              <a:t> position.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+5 profiling-sonar sector clearances (port to starboard) measured from the bow.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6217920" y="42062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+2 hull-flank clearances from a short-term </a:t>
            </a:r>
            <a:r>
              <a:rPr lang="en-US" sz="1600" b="1" i="0" dirty="0">
                <a:solidFill>
                  <a:srgbClr val="1F2937"/>
                </a:solidFill>
              </a:rPr>
              <a:t>sonar memory</a:t>
            </a:r>
            <a:r>
              <a:rPr lang="en-US" sz="1600" b="0" i="0" dirty="0">
                <a:solidFill>
                  <a:srgbClr val="1F2937"/>
                </a:solidFill>
              </a:rPr>
              <a:t>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+1 depth error relative to the mission depth.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Same network type: 23 -&gt; 64 -&gt; 64 -&gt; 3, tanh, about 5.9k parameters.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Stonefish-Scale Training Environment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16</a:t>
            </a:fld>
            <a:endParaRPr lang="en-IN" dirty="0"/>
          </a:p>
        </p:txBody>
      </p:sp>
      <p:pic>
        <p:nvPicPr>
          <p:cNvPr id="101" name="Picture 101" descr="06_percept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1759790"/>
            <a:ext cx="5120640" cy="4024221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5760720" y="1554480"/>
            <a:ext cx="6035040" cy="4480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700" b="1" i="0" dirty="0">
                <a:solidFill>
                  <a:srgbClr val="1E3A8A"/>
                </a:solidFill>
              </a:rPr>
              <a:t>Fast training environment (offline only)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Vehicle limits </a:t>
            </a:r>
            <a:r>
              <a:rPr lang="en-US" sz="1500" b="1" i="0" dirty="0">
                <a:solidFill>
                  <a:srgbClr val="1F2937"/>
                </a:solidFill>
              </a:rPr>
              <a:t>identified on the Stonefish Orca</a:t>
            </a:r>
            <a:r>
              <a:rPr lang="en-US" sz="1500" b="0" i="0" dirty="0">
                <a:solidFill>
                  <a:srgbClr val="1F2937"/>
                </a:solidFill>
              </a:rPr>
              <a:t>: 1.1 m/s, speed-dependent yaw rate, time constants.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27 m x 1.3 m </a:t>
            </a:r>
            <a:r>
              <a:rPr lang="en-US" sz="1500" b="1" i="0" dirty="0">
                <a:solidFill>
                  <a:srgbClr val="1F2937"/>
                </a:solidFill>
              </a:rPr>
              <a:t>hull</a:t>
            </a:r>
            <a:r>
              <a:rPr lang="en-US" sz="1500" b="0" i="0" dirty="0">
                <a:solidFill>
                  <a:srgbClr val="1F2937"/>
                </a:solidFill>
              </a:rPr>
              <a:t> for collisions; rocks, ridge walls, fish and subs that move.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The </a:t>
            </a:r>
            <a:r>
              <a:rPr lang="en-US" sz="1500" b="1" i="0" dirty="0">
                <a:solidFill>
                  <a:srgbClr val="1F2937"/>
                </a:solidFill>
              </a:rPr>
              <a:t>same swept sonar</a:t>
            </a:r>
            <a:r>
              <a:rPr lang="en-US" sz="1500" b="0" i="0" dirty="0">
                <a:solidFill>
                  <a:srgbClr val="1F2937"/>
                </a:solidFill>
              </a:rPr>
              <a:t> as the model: 64 steps over 160° at 10 Hz, in 5° bins as the simulator publishes.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The sonar memory keeps rocks that left the beam; a later beam that sees through a point clears it.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Navigation = DVL dead reckoning into the existing particle filter, exactly as on the vehicle.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000" b="1" dirty="0">
                <a:solidFill>
                  <a:schemeClr val="accent1">
                    <a:lumMod val="50000"/>
                  </a:schemeClr>
                </a:solidFill>
              </a:rPr>
              <a:t>Safety Shield: Original Rules + Obstacle Rules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17</a:t>
            </a:fld>
            <a:endParaRPr lang="en-IN" dirty="0"/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548640" y="1600200"/>
          <a:ext cx="11064240" cy="3803904"/>
        </p:xfrm>
        <a:graphic>
          <a:graphicData uri="http://schemas.openxmlformats.org/drawingml/2006/table">
            <a:tbl>
              <a:tblPr firstRow="1" bandRow="1"/>
              <a:tblGrid>
                <a:gridCol w="2743200"/>
                <a:gridCol w="4206240"/>
                <a:gridCol w="4114800"/>
              </a:tblGrid>
              <a:tr h="475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</a:rPr>
                        <a:t>Trigger (sensor-derived only)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</a:rPr>
                        <a:t>Override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i="0" dirty="0">
                          <a:solidFill>
                            <a:srgbClr val="1F2937"/>
                          </a:solidFill>
                        </a:rPr>
                        <a:t>Depth rating (original)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</a:rPr>
                        <a:t>depth ≥ 98 % of rating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</a:rPr>
                        <a:t>climb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i="0" dirty="0">
                          <a:solidFill>
                            <a:srgbClr val="1F2937"/>
                          </a:solidFill>
                        </a:rPr>
                        <a:t>Battery reserve (original)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</a:rPr>
                        <a:t>battery &lt; 8 %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</a:rPr>
                        <a:t>limp-home speed, damped yaw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i="0" dirty="0">
                          <a:solidFill>
                            <a:srgbClr val="1F2937"/>
                          </a:solidFill>
                        </a:rPr>
                        <a:t>Localisation (original)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</a:rPr>
                        <a:t>covariance trace &gt; 5000 m²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</a:rPr>
                        <a:t>clamp yaw rate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i="0" dirty="0">
                          <a:solidFill>
                            <a:srgbClr val="1F2937"/>
                          </a:solidFill>
                        </a:rPr>
                        <a:t>Obstacle stop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</a:rPr>
                        <a:t>something &lt; 7 m dead ahead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</a:rPr>
                        <a:t>crawl 0.15 m/s, turn hard to the open side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i="0" dirty="0">
                          <a:solidFill>
                            <a:srgbClr val="1F2937"/>
                          </a:solidFill>
                        </a:rPr>
                        <a:t>Obstacle slow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</a:rPr>
                        <a:t>something &lt; 12 m in the front sectors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</a:rPr>
                        <a:t>cap speed at 0.45 m/s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i="0" dirty="0">
                          <a:solidFill>
                            <a:srgbClr val="1F2937"/>
                          </a:solidFill>
                        </a:rPr>
                        <a:t>Seabed floor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</a:rPr>
                        <a:t>DVL altitude &lt; 3 m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</a:rPr>
                        <a:t>no further descent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i="0" dirty="0">
                          <a:solidFill>
                            <a:srgbClr val="1F2937"/>
                          </a:solidFill>
                        </a:rPr>
                        <a:t>Depth band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</a:rPr>
                        <a:t>|depth - mission depth| &gt; 3 m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i="0" dirty="0">
                          <a:solidFill>
                            <a:srgbClr val="1F2937"/>
                          </a:solidFill>
                        </a:rPr>
                        <a:t>push back into the band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Text 102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600" b="0" i="0" dirty="0">
                <a:solidFill>
                  <a:srgbClr val="475569"/>
                </a:solidFill>
              </a:rPr>
              <a:t>Every override costs the policy reward, so it learns to avoid needing the shield; the same shield runs in training and on the vehicle.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000" b="1" dirty="0">
                <a:solidFill>
                  <a:schemeClr val="accent1">
                    <a:lumMod val="50000"/>
                  </a:schemeClr>
                </a:solidFill>
              </a:rPr>
              <a:t>Training Pipeline: Behaviour Cloning + ES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18</a:t>
            </a:fld>
            <a:endParaRPr lang="en-IN" dirty="0"/>
          </a:p>
        </p:txBody>
      </p:sp>
      <p:pic>
        <p:nvPicPr>
          <p:cNvPr id="101" name="Picture 101" descr="07_training_pipeli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3909" y="1554480"/>
            <a:ext cx="9353702" cy="2560320"/>
          </a:xfrm>
          <a:prstGeom prst="rect">
            <a:avLst/>
          </a:prstGeom>
        </p:spPr>
      </p:pic>
      <p:sp>
        <p:nvSpPr>
          <p:cNvPr id="102" name="Card 102"/>
          <p:cNvSpPr txBox="1"/>
          <p:nvPr/>
        </p:nvSpPr>
        <p:spPr>
          <a:xfrm>
            <a:off x="548640" y="416052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700" b="1" i="0" dirty="0">
                <a:solidFill>
                  <a:srgbClr val="C2410C"/>
                </a:solidFill>
              </a:rPr>
              <a:t>Why a warm start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ES from a random network reached only 8 % of goals after 50 generations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Cloning a classical planner gives a sensible starting behaviour</a:t>
            </a:r>
          </a:p>
        </p:txBody>
      </p:sp>
      <p:sp>
        <p:nvSpPr>
          <p:cNvPr id="103" name="Card 103"/>
          <p:cNvSpPr txBox="1"/>
          <p:nvPr/>
        </p:nvSpPr>
        <p:spPr>
          <a:xfrm>
            <a:off x="6217920" y="416052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700" b="1" i="0" dirty="0">
                <a:solidFill>
                  <a:srgbClr val="0F766E"/>
                </a:solidFill>
              </a:rPr>
              <a:t>What ES then optimises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The real reward, collisions included, with σ = 0.03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Shared evaluation episodes per generation, 14 workers in parallel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ES Fine-Tuning of the Cloned Policy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19</a:t>
            </a:fld>
            <a:endParaRPr lang="en-IN" dirty="0"/>
          </a:p>
        </p:txBody>
      </p:sp>
      <p:pic>
        <p:nvPicPr>
          <p:cNvPr id="101" name="Picture 101" descr="08_es_obstacle_train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1712070"/>
            <a:ext cx="7223760" cy="3891059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7955280" y="1645920"/>
            <a:ext cx="3749040" cy="42062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200 generations x 48 candidates x 4 episodes (65 min on 14 cores).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Generation-to-generation noise comes from new episodes each generation.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Model selection on 100 </a:t>
            </a:r>
            <a:r>
              <a:rPr lang="en-US" sz="1600" b="1" i="0" dirty="0">
                <a:solidFill>
                  <a:srgbClr val="1F2937"/>
                </a:solidFill>
              </a:rPr>
              <a:t>validation</a:t>
            </a:r>
            <a:r>
              <a:rPr lang="en-US" sz="1600" b="0" i="0" dirty="0">
                <a:solidFill>
                  <a:srgbClr val="1F2937"/>
                </a:solidFill>
              </a:rPr>
              <a:t> missions; a later 80-generation fine-tune was worse (16 % vs 8 % collisions) and was </a:t>
            </a:r>
            <a:r>
              <a:rPr lang="en-US" sz="1600" b="1" i="0" dirty="0">
                <a:solidFill>
                  <a:srgbClr val="1F2937"/>
                </a:solidFill>
              </a:rPr>
              <a:t>rejected</a:t>
            </a:r>
            <a:r>
              <a:rPr lang="en-US" sz="1600" b="0" i="0" dirty="0">
                <a:solidFill>
                  <a:srgbClr val="1F2937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Where the Reward Goes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20</a:t>
            </a:fld>
            <a:endParaRPr lang="en-IN" dirty="0"/>
          </a:p>
        </p:txBody>
      </p:sp>
      <p:pic>
        <p:nvPicPr>
          <p:cNvPr id="101" name="Picture 101" descr="19_reward_breakdow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534" y="1463040"/>
            <a:ext cx="7537972" cy="3429000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8046720" y="1600200"/>
            <a:ext cx="3657600" cy="4389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The RL policy earns more </a:t>
            </a:r>
            <a:r>
              <a:rPr lang="en-US" sz="1500" b="1" i="0" dirty="0">
                <a:solidFill>
                  <a:srgbClr val="1F2937"/>
                </a:solidFill>
              </a:rPr>
              <a:t>waypoint bonus</a:t>
            </a:r>
            <a:r>
              <a:rPr lang="en-US" sz="1500" b="0" i="0" dirty="0">
                <a:solidFill>
                  <a:srgbClr val="1F2937"/>
                </a:solidFill>
              </a:rPr>
              <a:t> (430 vs 355) and more </a:t>
            </a:r>
            <a:r>
              <a:rPr lang="en-US" sz="1500" b="1" i="0" dirty="0">
                <a:solidFill>
                  <a:srgbClr val="1F2937"/>
                </a:solidFill>
              </a:rPr>
              <a:t>progress</a:t>
            </a:r>
            <a:r>
              <a:rPr lang="en-US" sz="1500" b="0" i="0" dirty="0">
                <a:solidFill>
                  <a:srgbClr val="1F2937"/>
                </a:solidFill>
              </a:rPr>
              <a:t> (130 vs 109).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It </a:t>
            </a:r>
            <a:r>
              <a:rPr lang="en-US" sz="1500" b="1" i="0" dirty="0">
                <a:solidFill>
                  <a:srgbClr val="1F2937"/>
                </a:solidFill>
              </a:rPr>
              <a:t>halves the collision penalty</a:t>
            </a:r>
            <a:r>
              <a:rPr lang="en-US" sz="1500" b="0" i="0" dirty="0">
                <a:solidFill>
                  <a:srgbClr val="1F2937"/>
                </a:solidFill>
              </a:rPr>
              <a:t> (-60 vs -120).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It pays a little more for shield overrides: it accepts brief interventions to keep moving.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Uncertainty and energy terms are small at this scale (flat seabeds, 7-minute missions).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48640" y="4937760"/>
            <a:ext cx="722376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300" b="0" i="0" dirty="0">
                <a:solidFill>
                  <a:srgbClr val="475569"/>
                </a:solidFill>
              </a:rPr>
              <a:t>Mean contribution of each reward term over 40 held-out missions (energy approximated from speed).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Offline Results: 100 Unseen Missions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21</a:t>
            </a:fld>
            <a:endParaRPr lang="en-IN" dirty="0"/>
          </a:p>
        </p:txBody>
      </p:sp>
      <p:pic>
        <p:nvPicPr>
          <p:cNvPr id="101" name="Picture 101" descr="09_offline_ev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09129" y="1508760"/>
            <a:ext cx="8743261" cy="3200400"/>
          </a:xfrm>
          <a:prstGeom prst="rect">
            <a:avLst/>
          </a:prstGeom>
        </p:spPr>
      </p:pic>
      <p:sp>
        <p:nvSpPr>
          <p:cNvPr id="102" name="Stat 102"/>
          <p:cNvSpPr txBox="1"/>
          <p:nvPr/>
        </p:nvSpPr>
        <p:spPr>
          <a:xfrm>
            <a:off x="822960" y="489204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3600" b="0" i="0" dirty="0">
                <a:solidFill>
                  <a:srgbClr val="0F766E"/>
                </a:solidFill>
              </a:rPr>
              <a:t>82 %</a:t>
            </a:r>
          </a:p>
        </p:txBody>
      </p:sp>
      <p:sp>
        <p:nvSpPr>
          <p:cNvPr id="103" name="StatLabel 103"/>
          <p:cNvSpPr txBox="1"/>
          <p:nvPr/>
        </p:nvSpPr>
        <p:spPr>
          <a:xfrm>
            <a:off x="822960" y="5788152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475569"/>
                </a:solidFill>
              </a:rPr>
              <a:t>goals reached (planner 68 %)</a:t>
            </a:r>
          </a:p>
        </p:txBody>
      </p:sp>
      <p:sp>
        <p:nvSpPr>
          <p:cNvPr id="104" name="Stat 104"/>
          <p:cNvSpPr txBox="1"/>
          <p:nvPr/>
        </p:nvSpPr>
        <p:spPr>
          <a:xfrm>
            <a:off x="4526280" y="489204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3600" b="0" i="0" dirty="0">
                <a:solidFill>
                  <a:srgbClr val="0F766E"/>
                </a:solidFill>
              </a:rPr>
              <a:t>13 %</a:t>
            </a:r>
          </a:p>
        </p:txBody>
      </p:sp>
      <p:sp>
        <p:nvSpPr>
          <p:cNvPr id="105" name="StatLabel 105"/>
          <p:cNvSpPr txBox="1"/>
          <p:nvPr/>
        </p:nvSpPr>
        <p:spPr>
          <a:xfrm>
            <a:off x="4526280" y="5788152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475569"/>
                </a:solidFill>
              </a:rPr>
              <a:t>collision rate (planner 28 %)</a:t>
            </a:r>
          </a:p>
        </p:txBody>
      </p:sp>
      <p:sp>
        <p:nvSpPr>
          <p:cNvPr id="106" name="Stat 106"/>
          <p:cNvSpPr txBox="1"/>
          <p:nvPr/>
        </p:nvSpPr>
        <p:spPr>
          <a:xfrm>
            <a:off x="8229600" y="489204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3600" b="0" i="0" dirty="0">
                <a:solidFill>
                  <a:srgbClr val="0F766E"/>
                </a:solidFill>
              </a:rPr>
              <a:t>5.9 m</a:t>
            </a:r>
          </a:p>
        </p:txBody>
      </p:sp>
      <p:sp>
        <p:nvSpPr>
          <p:cNvPr id="107" name="StatLabel 107"/>
          <p:cNvSpPr txBox="1"/>
          <p:nvPr/>
        </p:nvSpPr>
        <p:spPr>
          <a:xfrm>
            <a:off x="8229600" y="5788152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475569"/>
                </a:solidFill>
              </a:rPr>
              <a:t>median closest pass (planner 1.7 m)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Same Mission, Two Controllers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22</a:t>
            </a:fld>
            <a:endParaRPr lang="en-IN" dirty="0"/>
          </a:p>
        </p:txBody>
      </p:sp>
      <p:pic>
        <p:nvPicPr>
          <p:cNvPr id="101" name="Picture 101" descr="05_training_env_episod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1548589"/>
            <a:ext cx="7680960" cy="4446622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8321040" y="1645920"/>
            <a:ext cx="3474720" cy="42976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Classical planner: attraction to the goal, repulsion from close sectors.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It cuts the corner and hits the rocks beside the first goal.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The RL policy slows down, swings wide around the cluster and completes all three goals.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Both read the </a:t>
            </a:r>
            <a:r>
              <a:rPr lang="en-US" sz="1600" b="1" i="0" dirty="0">
                <a:solidFill>
                  <a:srgbClr val="1F2937"/>
                </a:solidFill>
              </a:rPr>
              <a:t>same observation</a:t>
            </a:r>
            <a:r>
              <a:rPr lang="en-US" sz="1600" b="0" i="0" dirty="0">
                <a:solidFill>
                  <a:srgbClr val="1F2937"/>
                </a:solidFill>
              </a:rPr>
              <a:t>; only the decision rule differs.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Part B · Stonefish and the Orca Model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23</a:t>
            </a:fld>
            <a:endParaRPr lang="en-IN" dirty="0"/>
          </a:p>
        </p:txBody>
      </p:sp>
      <p:pic>
        <p:nvPicPr>
          <p:cNvPr id="101" name="Picture 101" descr="stonefish_orca_vie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1559299"/>
            <a:ext cx="6035040" cy="3739402"/>
          </a:xfrm>
          <a:prstGeom prst="rect">
            <a:avLst/>
          </a:prstGeom>
        </p:spPr>
      </p:pic>
      <p:sp>
        <p:nvSpPr>
          <p:cNvPr id="102" name="Caption 102"/>
          <p:cNvSpPr txBox="1"/>
          <p:nvPr/>
        </p:nvSpPr>
        <p:spPr>
          <a:xfrm>
            <a:off x="457200" y="534924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475569"/>
                </a:solidFill>
              </a:rPr>
              <a:t>The Orca hull in Stonefish (main hull selected: 36.6 t shell)</a:t>
            </a:r>
          </a:p>
        </p:txBody>
      </p:sp>
      <p:sp>
        <p:nvSpPr>
          <p:cNvPr id="103" name="Card 103"/>
          <p:cNvSpPr txBox="1"/>
          <p:nvPr/>
        </p:nvSpPr>
        <p:spPr>
          <a:xfrm>
            <a:off x="6766560" y="1600200"/>
            <a:ext cx="4937760" cy="210312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700" b="1" i="0" dirty="0">
                <a:solidFill>
                  <a:srgbClr val="1E3A8A"/>
                </a:solidFill>
              </a:rPr>
              <a:t>Thrusters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Main thruster (±40 kN)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Yaw thruster at the bow (±8 kN)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Heave thruster through the centre of gravity (±55 kN)</a:t>
            </a:r>
          </a:p>
        </p:txBody>
      </p:sp>
      <p:sp>
        <p:nvSpPr>
          <p:cNvPr id="104" name="Card 104"/>
          <p:cNvSpPr txBox="1"/>
          <p:nvPr/>
        </p:nvSpPr>
        <p:spPr>
          <a:xfrm>
            <a:off x="6766560" y="3886200"/>
            <a:ext cx="4937760" cy="214884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700" b="1" i="0" dirty="0">
                <a:solidFill>
                  <a:srgbClr val="0F766E"/>
                </a:solidFill>
              </a:rPr>
              <a:t>Sensors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Inertial unit · Doppler velocity log · pressure · GPS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Profiling sonar: one swept beam, 160°, 30 m (obstacles)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Multibeam sonar: 120° downward fan (seabed)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The Base World Now Has Obstacles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24</a:t>
            </a:fld>
            <a:endParaRPr lang="en-IN" dirty="0"/>
          </a:p>
        </p:txBody>
      </p:sp>
      <p:pic>
        <p:nvPicPr>
          <p:cNvPr id="101" name="Picture 101" descr="14_rl_world_layou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4957" y="1463040"/>
            <a:ext cx="3310806" cy="4663440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5669280" y="1554480"/>
            <a:ext cx="612648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b="1" i="0" dirty="0">
                <a:solidFill>
                  <a:srgbClr val="1E3A8A"/>
                </a:solidFill>
              </a:rPr>
              <a:t>Obstacle world (generated procedurally)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12 rock pinnacles and 2 ridge walls rising from the 30 m seabed through the 12 m cruise depth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2 large boulders, 3 fish schools (9 fish, about 2 m/s loops)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A traffic submarine crossing the lanes with its own avoidance</a:t>
            </a:r>
          </a:p>
        </p:txBody>
      </p:sp>
      <p:pic>
        <p:nvPicPr>
          <p:cNvPr id="103" name="Picture 103" descr="stonefish_survey_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0720" y="4139156"/>
            <a:ext cx="3291840" cy="1871529"/>
          </a:xfrm>
          <a:prstGeom prst="rect">
            <a:avLst/>
          </a:prstGeom>
        </p:spPr>
      </p:pic>
      <p:sp>
        <p:nvSpPr>
          <p:cNvPr id="104" name="Text 104"/>
          <p:cNvSpPr txBox="1"/>
          <p:nvPr/>
        </p:nvSpPr>
        <p:spPr>
          <a:xfrm>
            <a:off x="9235440" y="4160520"/>
            <a:ext cx="2468880" cy="18288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475569"/>
                </a:solidFill>
              </a:rPr>
              <a:t>The Orca only learns about any of this through its own sonars and DVL.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Fix 1: The Original Orca Capsized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25</a:t>
            </a:fld>
            <a:endParaRPr lang="en-IN" dirty="0"/>
          </a:p>
        </p:txBody>
      </p:sp>
      <p:pic>
        <p:nvPicPr>
          <p:cNvPr id="101" name="Picture 101" descr="11_tri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1537137"/>
            <a:ext cx="7589520" cy="3235086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8138160" y="1600200"/>
            <a:ext cx="3566160" cy="4389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Stonefish's own mass properties: the solid sail put the </a:t>
            </a:r>
            <a:r>
              <a:rPr lang="en-US" sz="1500" b="1" i="0" dirty="0">
                <a:solidFill>
                  <a:srgbClr val="1F2937"/>
                </a:solidFill>
              </a:rPr>
              <a:t>centre of gravity 5 cm above the centre of buoyancy</a:t>
            </a:r>
            <a:r>
              <a:rPr lang="en-US" sz="1500" b="0" i="0" dirty="0">
                <a:solidFill>
                  <a:srgbClr val="1F2937"/>
                </a:solidFill>
              </a:rPr>
              <a:t>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Every scenario, the original survey demo included, rolled past 170° within about 35 s.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Fix: foam sail and mast; the removed mass carried as low </a:t>
            </a:r>
            <a:r>
              <a:rPr lang="en-US" sz="1500" b="1" i="0" dirty="0">
                <a:solidFill>
                  <a:srgbClr val="1F2937"/>
                </a:solidFill>
              </a:rPr>
              <a:t>keel ballast</a:t>
            </a:r>
            <a:r>
              <a:rPr lang="en-US" sz="1500" b="0" i="0" dirty="0">
                <a:solidFill>
                  <a:srgbClr val="1F2937"/>
                </a:solidFill>
              </a:rPr>
              <a:t>, placed so the two centres line up.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Same net buoyancy; gravity now 8 cm below buoyancy. Same fix for the survey subs.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48640" y="493776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600" b="0" i="0" dirty="0">
                <a:solidFill>
                  <a:srgbClr val="475569"/>
                </a:solidFill>
              </a:rPr>
              <a:t>Verified: the unchanged survey autopilot now completes its lanes with roll ≈ 0° and pitch ≤ 10°.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Fixes 2-4 Found While Integrating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26</a:t>
            </a:fld>
            <a:endParaRPr lang="en-IN" dirty="0"/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548640" y="1600200"/>
          <a:ext cx="11064240" cy="4389120"/>
        </p:xfrm>
        <a:graphic>
          <a:graphicData uri="http://schemas.openxmlformats.org/drawingml/2006/table">
            <a:tbl>
              <a:tblPr firstRow="1" bandRow="1"/>
              <a:tblGrid>
                <a:gridCol w="2743200"/>
                <a:gridCol w="4937760"/>
                <a:gridCol w="3383280"/>
              </a:tblGrid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</a:rPr>
                        <a:t>Root cause (from the Stonefish source)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</a:rPr>
                        <a:t>Fix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0" dirty="0">
                          <a:solidFill>
                            <a:srgbClr val="1F2937"/>
                          </a:solidFill>
                        </a:rPr>
                        <a:t>DVL never had bottom lock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</a:rPr>
                        <a:t>only a velocity range was given, leaving the altitude limit at about 10³⁰; the beam search then ran zero steps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</a:rPr>
                        <a:t>explicit altitude range in the vehicle description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0" dirty="0">
                          <a:solidFill>
                            <a:srgbClr val="1F2937"/>
                          </a:solidFill>
                        </a:rPr>
                        <a:t>Seabed coverage stopped after one fan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</a:rPr>
                        <a:t>the sensor interface returns sample copies whose identifier is always zero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</a:rPr>
                        <a:t>detect new samples by their time stamp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0" dirty="0">
                          <a:solidFill>
                            <a:srgbClr val="1F2937"/>
                          </a:solidFill>
                        </a:rPr>
                        <a:t>Windowless mode aborted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</a:rPr>
                        <a:t>lights are rejected when running without a window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</a:rPr>
                        <a:t>remove lights after loading the scene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0" dirty="0">
                          <a:solidFill>
                            <a:srgbClr val="1F2937"/>
                          </a:solidFill>
                        </a:rPr>
                        <a:t>Orca flung out of the water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</a:rPr>
                        <a:t>scripted fish squeeze the hull into the seabed or another hull; the physics engine diverges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</a:rPr>
                        <a:t>watchdog: put the Orca back ~2 s earlier and report it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0" dirty="0">
                          <a:solidFill>
                            <a:srgbClr val="1F2937"/>
                          </a:solidFill>
                        </a:rPr>
                        <a:t>Two simulators on one network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</a:rPr>
                        <a:t>interleaved sensor data, jumping estimate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</a:rPr>
                        <a:t>warning in the run script; separate ROS domain per run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000" b="1" dirty="0">
                <a:solidFill>
                  <a:schemeClr val="accent1">
                    <a:lumMod val="50000"/>
                  </a:schemeClr>
                </a:solidFill>
              </a:rPr>
              <a:t>System Identification on the Stonefish Orca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27</a:t>
            </a:fld>
            <a:endParaRPr lang="en-IN" dirty="0"/>
          </a:p>
        </p:txBody>
      </p:sp>
      <p:pic>
        <p:nvPicPr>
          <p:cNvPr id="101" name="Picture 101" descr="10_sysi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352" y="1508760"/>
            <a:ext cx="6709775" cy="2743200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548640" y="4389120"/>
            <a:ext cx="7498080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Raw thrust steps sent over ROS 2, with the vehicle reset between steps.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The published Orca envelope (4.1 m/s, 3°/s) is </a:t>
            </a:r>
            <a:r>
              <a:rPr lang="en-US" sz="1600" b="1" i="0" dirty="0">
                <a:solidFill>
                  <a:srgbClr val="1F2937"/>
                </a:solidFill>
              </a:rPr>
              <a:t>not achievable</a:t>
            </a:r>
            <a:r>
              <a:rPr lang="en-US" sz="1600" b="0" i="0" dirty="0">
                <a:solidFill>
                  <a:srgbClr val="1F2937"/>
                </a:solidFill>
              </a:rPr>
              <a:t> by this model: 1.15 m/s at 40 kN.</a:t>
            </a:r>
          </a:p>
        </p:txBody>
      </p:sp>
      <p:sp>
        <p:nvSpPr>
          <p:cNvPr id="103" name="Stat 103"/>
          <p:cNvSpPr txBox="1"/>
          <p:nvPr/>
        </p:nvSpPr>
        <p:spPr>
          <a:xfrm>
            <a:off x="8412480" y="164592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3600" b="0" i="0" dirty="0">
                <a:solidFill>
                  <a:srgbClr val="1E3A8A"/>
                </a:solidFill>
              </a:rPr>
              <a:t>1.15 m/s</a:t>
            </a:r>
          </a:p>
        </p:txBody>
      </p:sp>
      <p:sp>
        <p:nvSpPr>
          <p:cNvPr id="104" name="StatLabel 104"/>
          <p:cNvSpPr txBox="1"/>
          <p:nvPr/>
        </p:nvSpPr>
        <p:spPr>
          <a:xfrm>
            <a:off x="8412480" y="277063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475569"/>
                </a:solidFill>
              </a:rPr>
              <a:t>top speed (40 kN)</a:t>
            </a:r>
          </a:p>
        </p:txBody>
      </p:sp>
      <p:sp>
        <p:nvSpPr>
          <p:cNvPr id="105" name="Stat 105"/>
          <p:cNvSpPr txBox="1"/>
          <p:nvPr/>
        </p:nvSpPr>
        <p:spPr>
          <a:xfrm>
            <a:off x="8412480" y="324612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3600" b="0" i="0" dirty="0">
                <a:solidFill>
                  <a:srgbClr val="1E3A8A"/>
                </a:solidFill>
              </a:rPr>
              <a:t>2.7 °/s</a:t>
            </a:r>
          </a:p>
        </p:txBody>
      </p:sp>
      <p:sp>
        <p:nvSpPr>
          <p:cNvPr id="106" name="StatLabel 106"/>
          <p:cNvSpPr txBox="1"/>
          <p:nvPr/>
        </p:nvSpPr>
        <p:spPr>
          <a:xfrm>
            <a:off x="8412480" y="437083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475569"/>
                </a:solidFill>
              </a:rPr>
              <a:t>max yaw rate at 0.5 m/s</a:t>
            </a:r>
          </a:p>
        </p:txBody>
      </p:sp>
      <p:sp>
        <p:nvSpPr>
          <p:cNvPr id="107" name="Stat 107"/>
          <p:cNvSpPr txBox="1"/>
          <p:nvPr/>
        </p:nvSpPr>
        <p:spPr>
          <a:xfrm>
            <a:off x="8412480" y="48463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3600" b="0" i="0" dirty="0">
                <a:solidFill>
                  <a:srgbClr val="1E3A8A"/>
                </a:solidFill>
              </a:rPr>
              <a:t>τ ≈ 6.5 s</a:t>
            </a:r>
          </a:p>
        </p:txBody>
      </p:sp>
      <p:sp>
        <p:nvSpPr>
          <p:cNvPr id="108" name="StatLabel 108"/>
          <p:cNvSpPr txBox="1"/>
          <p:nvPr/>
        </p:nvSpPr>
        <p:spPr>
          <a:xfrm>
            <a:off x="8412480" y="574243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475569"/>
                </a:solidFill>
              </a:rPr>
              <a:t>surge time constant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From RL Action to Thruster Force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28</a:t>
            </a:fld>
            <a:endParaRPr lang="en-IN" dirty="0"/>
          </a:p>
        </p:txBody>
      </p:sp>
      <p:pic>
        <p:nvPicPr>
          <p:cNvPr id="101" name="Picture 101" descr="12_setpoint_track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141" y="1554480"/>
            <a:ext cx="5188278" cy="2834640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6583680" y="160020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700" b="1" i="0" dirty="0">
                <a:solidFill>
                  <a:srgbClr val="1E3A8A"/>
                </a:solidFill>
              </a:rPr>
              <a:t>Command adapter (C++, 300 Hz)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Surge: F = 9000·u|u| + 23500·u feed-forward + PI on DVL speed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Yaw: 150 000·r feed-forward + PI on the measured yaw rate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Depth: integrates the depth-rate command into a reference, held with the autopilot's gains + seabed guard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Drives the </a:t>
            </a:r>
            <a:r>
              <a:rPr lang="en-US" sz="1500" b="1" i="0" dirty="0">
                <a:solidFill>
                  <a:srgbClr val="1F2937"/>
                </a:solidFill>
              </a:rPr>
              <a:t>existing</a:t>
            </a:r>
            <a:r>
              <a:rPr lang="en-US" sz="1500" b="0" i="0" dirty="0">
                <a:solidFill>
                  <a:srgbClr val="1F2937"/>
                </a:solidFill>
              </a:rPr>
              <a:t> vehicle controller with its autopilot switched off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3 s watchdog: stop and hold depth if commands stop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548640" y="4526280"/>
            <a:ext cx="5760720" cy="1463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475569"/>
                </a:solidFill>
              </a:rPr>
              <a:t>Actions are not forces: the policy asks for physical setpoints and the C++ inner loop turns them into thrust using the identified model.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Part C · How RL and Stonefish Connect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29</a:t>
            </a:fld>
            <a:endParaRPr lang="en-IN" dirty="0"/>
          </a:p>
        </p:txBody>
      </p:sp>
      <p:pic>
        <p:nvPicPr>
          <p:cNvPr id="101" name="Picture 101" descr="13_architectu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5205" y="1508760"/>
            <a:ext cx="9811109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From Gazebo Assumptions to Stonefish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30</a:t>
            </a:fld>
            <a:endParaRPr lang="en-IN" dirty="0"/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457200" y="1554480"/>
          <a:ext cx="11247120" cy="4608576"/>
        </p:xfrm>
        <a:graphic>
          <a:graphicData uri="http://schemas.openxmlformats.org/drawingml/2006/table">
            <a:tbl>
              <a:tblPr firstRow="1" bandRow="1"/>
              <a:tblGrid>
                <a:gridCol w="4389120"/>
                <a:gridCol w="6858000"/>
              </a:tblGrid>
              <a:tr h="512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</a:rPr>
                        <a:t>Old assumption (Gazebo / UUV Simulator)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</a:rPr>
                        <a:t>Stonefish replacement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0" dirty="0">
                          <a:solidFill>
                            <a:srgbClr val="1F2937"/>
                          </a:solidFill>
                        </a:rPr>
                        <a:t>Ground-truth pose fed into the control loop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</a:rPr>
                        <a:t>simulator odometry, labelled ground truth; used only for evaluation or in debug mode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0" dirty="0">
                          <a:solidFill>
                            <a:srgbClr val="1F2937"/>
                          </a:solidFill>
                        </a:rPr>
                        <a:t>Depth = (pressure - 1 atm) / ρg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</a:rPr>
                        <a:t>Stonefish reports gauge pressure: depth = pressure / ρg (else 10 m error)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0" dirty="0">
                          <a:solidFill>
                            <a:srgbClr val="1F2937"/>
                          </a:solidFill>
                        </a:rPr>
                        <a:t>Velocity command to a simulator plugin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</a:rPr>
                        <a:t>speed / yaw-rate / depth-rate setpoint, converted to thruster forces in C++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0" dirty="0">
                          <a:solidFill>
                            <a:srgbClr val="1F2937"/>
                          </a:solidFill>
                        </a:rPr>
                        <a:t>Per-thruster plugin messages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</a:rPr>
                        <a:t>direct thruster forces, kept for manual tests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0" dirty="0">
                          <a:solidFill>
                            <a:srgbClr val="1F2937"/>
                          </a:solidFill>
                        </a:rPr>
                        <a:t>Fixed heading, zero velocity placeholders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</a:rPr>
                        <a:t>measured heading and DVL velocity into the particle filter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0" dirty="0">
                          <a:solidFill>
                            <a:srgbClr val="1F2937"/>
                          </a:solidFill>
                        </a:rPr>
                        <a:t>Simulator reset / pause services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</a:rPr>
                        <a:t>the robot is re-spawned at its start pose on the physics thread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0" dirty="0">
                          <a:solidFill>
                            <a:srgbClr val="1F2937"/>
                          </a:solidFill>
                        </a:rPr>
                        <a:t>Spawning the model into the world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</a:rPr>
                        <a:t>the Orca is loaded from the scenario description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i="0" dirty="0">
                          <a:solidFill>
                            <a:srgbClr val="1F2937"/>
                          </a:solidFill>
                        </a:rPr>
                        <a:t>Procedural risk map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0" dirty="0">
                          <a:solidFill>
                            <a:srgbClr val="1F2937"/>
                          </a:solidFill>
                        </a:rPr>
                        <a:t>risk from the profiling sonar and DVL altitude; terrain richness from the multibeam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Data Exchanged over ROS 2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31</a:t>
            </a:fld>
            <a:endParaRPr lang="en-IN" dirty="0"/>
          </a:p>
        </p:txBody>
      </p:sp>
      <p:graphicFrame>
        <p:nvGraphicFramePr>
          <p:cNvPr id="101" name="Table 101"/>
          <p:cNvGraphicFramePr>
            <a:graphicFrameLocks noGrp="1"/>
          </p:cNvGraphicFramePr>
          <p:nvPr/>
        </p:nvGraphicFramePr>
        <p:xfrm>
          <a:off x="457200" y="1554480"/>
          <a:ext cx="6858000" cy="4480560"/>
        </p:xfrm>
        <a:graphic>
          <a:graphicData uri="http://schemas.openxmlformats.org/drawingml/2006/table">
            <a:tbl>
              <a:tblPr firstRow="1" bandRow="1"/>
              <a:tblGrid>
                <a:gridCol w="3749040"/>
                <a:gridCol w="2011680"/>
                <a:gridCol w="1097280"/>
              </a:tblGrid>
              <a:tr h="44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1" i="0" dirty="0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1" i="0" dirty="0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1" i="0" dirty="0">
                          <a:solidFill>
                            <a:srgbClr val="FFFFFF"/>
                          </a:solidFill>
                        </a:rPr>
                        <a:t>Rate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1A9B46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1" i="0" dirty="0">
                          <a:solidFill>
                            <a:srgbClr val="1F2937"/>
                          </a:solidFill>
                        </a:rPr>
                        <a:t>Motion setpoint (speed, yaw rate, depth rate)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</a:rPr>
                        <a:t>RL -&gt; simulator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</a:rPr>
                        <a:t>1 Hz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1" i="0" dirty="0">
                          <a:solidFill>
                            <a:srgbClr val="1F2937"/>
                          </a:solidFill>
                        </a:rPr>
                        <a:t>Attitude and turn rate (inertial unit)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</a:rPr>
                        <a:t>simulator -&gt; RL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</a:rPr>
                        <a:t>100 Hz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1" i="0" dirty="0">
                          <a:solidFill>
                            <a:srgbClr val="1F2937"/>
                          </a:solidFill>
                        </a:rPr>
                        <a:t>Velocity over ground, altitude (DVL)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</a:rPr>
                        <a:t>simulator -&gt; RL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</a:rPr>
                        <a:t>10 Hz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1" i="0" dirty="0">
                          <a:solidFill>
                            <a:srgbClr val="1F2937"/>
                          </a:solidFill>
                        </a:rPr>
                        <a:t>Depth (pressure)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</a:rPr>
                        <a:t>simulator -&gt; RL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</a:rPr>
                        <a:t>10 Hz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1" i="0" dirty="0">
                          <a:solidFill>
                            <a:srgbClr val="1F2937"/>
                          </a:solidFill>
                        </a:rPr>
                        <a:t>Position fix (GPS, surface only)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</a:rPr>
                        <a:t>simulator -&gt; RL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</a:rPr>
                        <a:t>1 Hz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1" i="0" dirty="0">
                          <a:solidFill>
                            <a:srgbClr val="1F2937"/>
                          </a:solidFill>
                        </a:rPr>
                        <a:t>Profiling and multibeam sonar scans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</a:rPr>
                        <a:t>simulator -&gt; RL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</a:rPr>
                        <a:t>10 / 2 Hz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1" i="0" dirty="0">
                          <a:solidFill>
                            <a:srgbClr val="1F2937"/>
                          </a:solidFill>
                        </a:rPr>
                        <a:t>Contact events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</a:rPr>
                        <a:t>simulator -&gt; RL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</a:rPr>
                        <a:t>10 Hz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1" i="0" dirty="0">
                          <a:solidFill>
                            <a:srgbClr val="1F2937"/>
                          </a:solidFill>
                        </a:rPr>
                        <a:t>Simulation clock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</a:rPr>
                        <a:t>simulator -&gt; RL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</a:rPr>
                        <a:t>100 Hz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1" i="0" dirty="0">
                          <a:solidFill>
                            <a:srgbClr val="1F2937"/>
                          </a:solidFill>
                        </a:rPr>
                        <a:t>Reset, autopilot on/off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</a:rPr>
                        <a:t>service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0" i="0" dirty="0">
                          <a:solidFill>
                            <a:srgbClr val="1F2937"/>
                          </a:solidFill>
                        </a:rPr>
                        <a:t>on request</a:t>
                      </a:r>
                    </a:p>
                  </a:txBody>
                  <a:tcPr marL="73152" marR="73152" marT="36576" marB="36576" anchor="ctr"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Card 102"/>
          <p:cNvSpPr txBox="1"/>
          <p:nvPr/>
        </p:nvSpPr>
        <p:spPr>
          <a:xfrm>
            <a:off x="7589520" y="1600200"/>
            <a:ext cx="4114800" cy="20574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1E3A8A"/>
                </a:solidFill>
              </a:rPr>
              <a:t>Frames (checked in the source)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World north-east-down, body forward-right-down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The Python simulator already uses the same axes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+ yaw = bow to starboard; depth positive down</a:t>
            </a:r>
          </a:p>
        </p:txBody>
      </p:sp>
      <p:sp>
        <p:nvSpPr>
          <p:cNvPr id="103" name="Card 103"/>
          <p:cNvSpPr txBox="1"/>
          <p:nvPr/>
        </p:nvSpPr>
        <p:spPr>
          <a:xfrm>
            <a:off x="7589520" y="3840480"/>
            <a:ext cx="4114800" cy="219456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0F766E"/>
                </a:solidFill>
              </a:rPr>
              <a:t>Threads and timing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Physics thread: 300 Hz step callback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ROS 2 on its own thread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Only lock-protected data is shared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RL at 1 Hz on simulation time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Navigation: Realistic vs. Debug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32</a:t>
            </a:fld>
            <a:endParaRPr lang="en-IN" dirty="0"/>
          </a:p>
        </p:txBody>
      </p:sp>
      <p:pic>
        <p:nvPicPr>
          <p:cNvPr id="101" name="Picture 101" descr="16_nav_err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406" y="1554480"/>
            <a:ext cx="5736148" cy="2926080"/>
          </a:xfrm>
          <a:prstGeom prst="rect">
            <a:avLst/>
          </a:prstGeom>
        </p:spPr>
      </p:pic>
      <p:sp>
        <p:nvSpPr>
          <p:cNvPr id="102" name="Card 102"/>
          <p:cNvSpPr txBox="1"/>
          <p:nvPr/>
        </p:nvSpPr>
        <p:spPr>
          <a:xfrm>
            <a:off x="7498080" y="1600200"/>
            <a:ext cx="4206240" cy="210312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700" b="1" i="0" dirty="0">
                <a:solidFill>
                  <a:srgbClr val="0F766E"/>
                </a:solidFill>
              </a:rPr>
              <a:t>Realistic sensing (default)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DVL x inertial dead reckoning at 10 Hz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Existing particle filter, GPS at the surface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Ground truth logged only for evaluation</a:t>
            </a:r>
          </a:p>
        </p:txBody>
      </p:sp>
      <p:sp>
        <p:nvSpPr>
          <p:cNvPr id="103" name="Card 103"/>
          <p:cNvSpPr txBox="1"/>
          <p:nvPr/>
        </p:nvSpPr>
        <p:spPr>
          <a:xfrm>
            <a:off x="7498080" y="3886200"/>
            <a:ext cx="4206240" cy="2103120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700" b="1" i="0" dirty="0">
                <a:solidFill>
                  <a:srgbClr val="C2410C"/>
                </a:solidFill>
              </a:rPr>
              <a:t>Debug: ground truth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Simulator pose used as the estimate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Connectivity checks only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1F2937"/>
                </a:solidFill>
              </a:rPr>
              <a:t>Warns in the log every 10 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548640" y="4572000"/>
            <a:ext cx="6675120" cy="13716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475569"/>
                </a:solidFill>
              </a:rPr>
              <a:t>Under 1 m mean error over 25-minute missions in the obstacle and multi-sub worlds. The survey-world error comes from physics resets, which navigation cannot observe.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Closed-Loop Results in Stonefish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33</a:t>
            </a:fld>
            <a:endParaRPr lang="en-IN" dirty="0"/>
          </a:p>
        </p:txBody>
      </p:sp>
      <p:pic>
        <p:nvPicPr>
          <p:cNvPr id="101" name="Picture 101" descr="18_stonefish_resul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9174" y="1508760"/>
            <a:ext cx="10423172" cy="3886200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548640" y="5440680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475569"/>
                </a:solidFill>
              </a:rPr>
              <a:t>RL: realistic navigation, 30-minute limit. Autopilot: the original C++ controller using ground-truth position, in the same worlds.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000" b="1" dirty="0">
                <a:solidFill>
                  <a:schemeClr val="accent1">
                    <a:lumMod val="50000"/>
                  </a:schemeClr>
                </a:solidFill>
              </a:rPr>
              <a:t>Obstacle World: Full Survey Under RL Control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34</a:t>
            </a:fld>
            <a:endParaRPr lang="en-IN" dirty="0"/>
          </a:p>
        </p:txBody>
      </p:sp>
      <p:pic>
        <p:nvPicPr>
          <p:cNvPr id="101" name="Picture 101" descr="15_stonefish_run_r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1315" y="1417320"/>
            <a:ext cx="3581049" cy="4709160"/>
          </a:xfrm>
          <a:prstGeom prst="rect">
            <a:avLst/>
          </a:prstGeom>
        </p:spPr>
      </p:pic>
      <p:sp>
        <p:nvSpPr>
          <p:cNvPr id="102" name="Stat 102"/>
          <p:cNvSpPr txBox="1"/>
          <p:nvPr/>
        </p:nvSpPr>
        <p:spPr>
          <a:xfrm>
            <a:off x="6400800" y="1645920"/>
            <a:ext cx="2514600" cy="109728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3600" b="0" i="0" dirty="0">
                <a:solidFill>
                  <a:srgbClr val="0F766E"/>
                </a:solidFill>
              </a:rPr>
              <a:t>14 / 15</a:t>
            </a:r>
          </a:p>
        </p:txBody>
      </p:sp>
      <p:sp>
        <p:nvSpPr>
          <p:cNvPr id="103" name="StatLabel 103"/>
          <p:cNvSpPr txBox="1"/>
          <p:nvPr/>
        </p:nvSpPr>
        <p:spPr>
          <a:xfrm>
            <a:off x="6400800" y="2724912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475569"/>
                </a:solidFill>
              </a:rPr>
              <a:t>waypoints (1 skipped: on a rock)</a:t>
            </a:r>
          </a:p>
        </p:txBody>
      </p:sp>
      <p:sp>
        <p:nvSpPr>
          <p:cNvPr id="104" name="Stat 104"/>
          <p:cNvSpPr txBox="1"/>
          <p:nvPr/>
        </p:nvSpPr>
        <p:spPr>
          <a:xfrm>
            <a:off x="9144000" y="1645920"/>
            <a:ext cx="2514600" cy="109728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3600" b="0" i="0" dirty="0">
                <a:solidFill>
                  <a:srgbClr val="0F766E"/>
                </a:solidFill>
              </a:rPr>
              <a:t>0.64 m</a:t>
            </a:r>
          </a:p>
        </p:txBody>
      </p:sp>
      <p:sp>
        <p:nvSpPr>
          <p:cNvPr id="105" name="StatLabel 105"/>
          <p:cNvSpPr txBox="1"/>
          <p:nvPr/>
        </p:nvSpPr>
        <p:spPr>
          <a:xfrm>
            <a:off x="9144000" y="2724912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475569"/>
                </a:solidFill>
              </a:rPr>
              <a:t>mean navigation error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6400800" y="3200400"/>
            <a:ext cx="530352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Detours around pinnacles, ridges and boulders on every lane.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6 static contacts are grazes in tight passes; 5 are scripted fish crossing the hull.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A waypoint the sonar shows to be occupied is skipped, as a real mission manager would.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What the Policy Sensed and Did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35</a:t>
            </a:fld>
            <a:endParaRPr lang="en-IN" dirty="0"/>
          </a:p>
        </p:txBody>
      </p:sp>
      <p:pic>
        <p:nvPicPr>
          <p:cNvPr id="101" name="Picture 101" descr="17_clearance_timeli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37804" y="1508760"/>
            <a:ext cx="7885912" cy="3749040"/>
          </a:xfrm>
          <a:prstGeom prst="rect">
            <a:avLst/>
          </a:prstGeom>
        </p:spPr>
      </p:pic>
      <p:sp>
        <p:nvSpPr>
          <p:cNvPr id="102" name="Text 102"/>
          <p:cNvSpPr txBox="1"/>
          <p:nvPr/>
        </p:nvSpPr>
        <p:spPr>
          <a:xfrm>
            <a:off x="548640" y="534924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0" i="0" dirty="0">
                <a:solidFill>
                  <a:srgbClr val="475569"/>
                </a:solidFill>
              </a:rPr>
              <a:t>Speed drops whenever forward clearance shrinks; the shield fires only in brief bursts; the flank memory keeps a rock alongside until the hull has passed it.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000" b="1" dirty="0">
                <a:solidFill>
                  <a:schemeClr val="accent1">
                    <a:lumMod val="50000"/>
                  </a:schemeClr>
                </a:solidFill>
              </a:rPr>
              <a:t>Other Submarines and the Dense Survey Field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36</a:t>
            </a:fld>
            <a:endParaRPr lang="en-IN" dirty="0"/>
          </a:p>
        </p:txBody>
      </p:sp>
      <p:pic>
        <p:nvPicPr>
          <p:cNvPr id="101" name="Picture 101" descr="15_stonefish_run_multisu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128" y="1417320"/>
            <a:ext cx="3376303" cy="4709160"/>
          </a:xfrm>
          <a:prstGeom prst="rect">
            <a:avLst/>
          </a:prstGeom>
        </p:spPr>
      </p:pic>
      <p:pic>
        <p:nvPicPr>
          <p:cNvPr id="102" name="Picture 102" descr="15_stonefish_run_surve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67624" y="1417320"/>
            <a:ext cx="3609152" cy="4709160"/>
          </a:xfrm>
          <a:prstGeom prst="rect">
            <a:avLst/>
          </a:prstGeom>
        </p:spPr>
      </p:pic>
      <p:sp>
        <p:nvSpPr>
          <p:cNvPr id="103" name="Text 103"/>
          <p:cNvSpPr txBox="1"/>
          <p:nvPr/>
        </p:nvSpPr>
        <p:spPr>
          <a:xfrm>
            <a:off x="8229600" y="1554480"/>
            <a:ext cx="3566160" cy="4480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l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1E3A8A"/>
                </a:solidFill>
              </a:rPr>
              <a:t>Multi-sub world: complete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8/9 waypoints, 4 grazes with another sub, 0.69 m navigation error</a:t>
            </a:r>
          </a:p>
          <a:p>
            <a:pPr algn="l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00" b="1" i="0" dirty="0">
                <a:solidFill>
                  <a:srgbClr val="1E3A8A"/>
                </a:solidFill>
              </a:rPr>
              <a:t>Survey world: the open problem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90 x 70 m box for a 26 m hull, lanes 23 m apart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Large scripted fish push the hull into the seabed: 15 physics resets, estimate drifts, legs time out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400" b="0" i="0" dirty="0">
                <a:solidFill>
                  <a:srgbClr val="1F2937"/>
                </a:solidFill>
              </a:rPr>
              <a:t>The C++ autopilot also only reaches 3/12 there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Interim Summary / Conclusion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37</a:t>
            </a:fld>
            <a:endParaRPr lang="en-IN" dirty="0"/>
          </a:p>
        </p:txBody>
      </p:sp>
      <p:sp>
        <p:nvSpPr>
          <p:cNvPr id="101" name="Stat 101"/>
          <p:cNvSpPr txBox="1"/>
          <p:nvPr/>
        </p:nvSpPr>
        <p:spPr>
          <a:xfrm>
            <a:off x="640080" y="164592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3600" b="0" i="0" dirty="0">
                <a:solidFill>
                  <a:srgbClr val="1A9B46"/>
                </a:solidFill>
              </a:rPr>
              <a:t>ROS 2</a:t>
            </a:r>
          </a:p>
        </p:txBody>
      </p:sp>
      <p:sp>
        <p:nvSpPr>
          <p:cNvPr id="102" name="StatLabel 102"/>
          <p:cNvSpPr txBox="1"/>
          <p:nvPr/>
        </p:nvSpPr>
        <p:spPr>
          <a:xfrm>
            <a:off x="640080" y="277063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475569"/>
                </a:solidFill>
              </a:rPr>
              <a:t>RL policy &lt;-&gt; Stonefish</a:t>
            </a:r>
          </a:p>
        </p:txBody>
      </p:sp>
      <p:sp>
        <p:nvSpPr>
          <p:cNvPr id="103" name="Stat 103"/>
          <p:cNvSpPr txBox="1"/>
          <p:nvPr/>
        </p:nvSpPr>
        <p:spPr>
          <a:xfrm>
            <a:off x="3429000" y="164592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3600" b="0" i="0" dirty="0">
                <a:solidFill>
                  <a:srgbClr val="0F766E"/>
                </a:solidFill>
              </a:rPr>
              <a:t>82 %</a:t>
            </a:r>
          </a:p>
        </p:txBody>
      </p:sp>
      <p:sp>
        <p:nvSpPr>
          <p:cNvPr id="104" name="StatLabel 104"/>
          <p:cNvSpPr txBox="1"/>
          <p:nvPr/>
        </p:nvSpPr>
        <p:spPr>
          <a:xfrm>
            <a:off x="3429000" y="277063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475569"/>
                </a:solidFill>
              </a:rPr>
              <a:t>offline goals (planner 68 %)</a:t>
            </a:r>
          </a:p>
        </p:txBody>
      </p:sp>
      <p:sp>
        <p:nvSpPr>
          <p:cNvPr id="105" name="Stat 105"/>
          <p:cNvSpPr txBox="1"/>
          <p:nvPr/>
        </p:nvSpPr>
        <p:spPr>
          <a:xfrm>
            <a:off x="6217920" y="164592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3600" b="0" i="0" dirty="0">
                <a:solidFill>
                  <a:srgbClr val="0F766E"/>
                </a:solidFill>
              </a:rPr>
              <a:t>13 %</a:t>
            </a:r>
          </a:p>
        </p:txBody>
      </p:sp>
      <p:sp>
        <p:nvSpPr>
          <p:cNvPr id="106" name="StatLabel 106"/>
          <p:cNvSpPr txBox="1"/>
          <p:nvPr/>
        </p:nvSpPr>
        <p:spPr>
          <a:xfrm>
            <a:off x="6217920" y="277063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475569"/>
                </a:solidFill>
              </a:rPr>
              <a:t>offline collisions (planner 28 %)</a:t>
            </a:r>
          </a:p>
        </p:txBody>
      </p:sp>
      <p:sp>
        <p:nvSpPr>
          <p:cNvPr id="107" name="Stat 107"/>
          <p:cNvSpPr txBox="1"/>
          <p:nvPr/>
        </p:nvSpPr>
        <p:spPr>
          <a:xfrm>
            <a:off x="9006840" y="164592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3600" b="0" i="0" dirty="0">
                <a:solidFill>
                  <a:srgbClr val="1E3A8A"/>
                </a:solidFill>
              </a:rPr>
              <a:t>2 / 3</a:t>
            </a:r>
          </a:p>
        </p:txBody>
      </p:sp>
      <p:sp>
        <p:nvSpPr>
          <p:cNvPr id="108" name="StatLabel 108"/>
          <p:cNvSpPr txBox="1"/>
          <p:nvPr/>
        </p:nvSpPr>
        <p:spPr>
          <a:xfrm>
            <a:off x="9006840" y="277063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475569"/>
                </a:solidFill>
              </a:rPr>
              <a:t>Stonefish surveys completed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640080" y="3337560"/>
            <a:ext cx="1097280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The policy drives the real Stonefish thrusters through ROS 2 and reads only real Stonefish sensors.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The objective rewards progress and waypoints and penalises uncertainty, risk, energy, shield use and collisions.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Three vehicle-model bugs were found and fixed: capsizing, DVL lock, seabed coverage.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700" b="0" i="0" dirty="0">
                <a:solidFill>
                  <a:srgbClr val="1F2937"/>
                </a:solidFill>
              </a:rPr>
              <a:t>Remaining gap: dense scenes with non-yielding scripted fish, and grazing contacts in tight passes.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Limitations and Completion Plan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38</a:t>
            </a:fld>
            <a:endParaRPr lang="en-IN" dirty="0"/>
          </a:p>
        </p:txBody>
      </p:sp>
      <p:sp>
        <p:nvSpPr>
          <p:cNvPr id="101" name="Card 101"/>
          <p:cNvSpPr txBox="1"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800" b="1" i="0" dirty="0">
                <a:solidFill>
                  <a:srgbClr val="C2410C"/>
                </a:solidFill>
              </a:rPr>
              <a:t>Limitations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Trained in a fast simulator calibrated to Stonefish, not in Stonefish itself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Flat seabeds: terrain-aided navigation carries no information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Scripted fish never yield and can force physics resets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The swept sonar refreshes each bearing only every ~6.4 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Contacts still occur: 6 grazes in the obstacle world</a:t>
            </a:r>
          </a:p>
        </p:txBody>
      </p:sp>
      <p:sp>
        <p:nvSpPr>
          <p:cNvPr id="102" name="Card 102"/>
          <p:cNvSpPr txBox="1"/>
          <p:nvPr/>
        </p:nvSpPr>
        <p:spPr>
          <a:xfrm>
            <a:off x="6217920" y="160020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>
            <a:noFill/>
          </a:ln>
        </p:spPr>
        <p:txBody>
          <a:bodyPr wrap="square" lIns="137160" tIns="137160" rIns="137160" bIns="137160" anchor="t">
            <a:normAutofit/>
          </a:bodyPr>
          <a:lstStyle/>
          <a:p>
            <a:pPr algn="l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800" b="1" i="0" dirty="0">
                <a:solidFill>
                  <a:srgbClr val="0F766E"/>
                </a:solidFill>
              </a:rPr>
              <a:t>Next phase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Fine-tune with ES directly in Stonefish, faster than real time, with automatic resets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Randomise obstacle fields for every mission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Real bathymetry charts so terrain-aided navigation helps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Larger flank margin in tight passes</a:t>
            </a:r>
          </a:p>
          <a:p>
            <a:pPr marL="285750" indent="-285750" algn="l">
              <a:spcAft>
                <a:spcPts val="4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PPO once a deep-learning toolchain is available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References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39</a:t>
            </a:fld>
            <a:endParaRPr lang="en-IN" dirty="0"/>
          </a:p>
        </p:txBody>
      </p:sp>
      <p:sp>
        <p:nvSpPr>
          <p:cNvPr id="101" name="Text 101"/>
          <p:cNvSpPr txBox="1"/>
          <p:nvPr/>
        </p:nvSpPr>
        <p:spPr>
          <a:xfrm>
            <a:off x="548640" y="1554480"/>
            <a:ext cx="11155680" cy="4480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T. Salimans et al., "Evolution Strategies as a Scalable Alternative to Reinforcement Learning," arXiv:1703.03864, 2017.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J. Schulman et al., "Proximal Policy Optimization Algorithms," arXiv:1707.06347, 2017.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T. I. Fossen, Handbook of Marine Craft Hydrodynamics and Motion Control, Wiley, 2011.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P. Cieślak, "Stonefish: An Advanced Open-Source Simulation Tool Designed for Marine Robotics, with a ROS Interface," IEEE/OES OCEANS, 2019.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M. M. M. Manhães et al., "UUV Simulator: A Gazebo-Based Package for Underwater Intervention and Multi-Robot Simulation," IEEE/MTS OCEANS, 2016.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S. Ross, G. Gordon, D. Bagnell, "A Reduction of Imitation Learning and Structured Prediction to No-Regret Online Learning," AISTATS, 2011.</a:t>
            </a:r>
          </a:p>
          <a:p>
            <a:pPr marL="285750" indent="-285750" algn="l">
              <a:spcAft>
                <a:spcPts val="600"/>
              </a:spcAft>
              <a:buClr>
                <a:srgbClr val="1A9B46"/>
              </a:buClr>
              <a:buFont typeface="Arial"/>
              <a:buChar char="•"/>
            </a:pPr>
            <a:r>
              <a:rPr lang="en-US" sz="1600" b="0" i="0" dirty="0">
                <a:solidFill>
                  <a:srgbClr val="1F2937"/>
                </a:solidFill>
              </a:rPr>
              <a:t>S. Macenski et al., "Robot Operating System 2: Design, Architecture, and Uses in the Wild," Science Robotics, 2022.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Thank you</a:t>
            </a: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356350"/>
            <a:ext cx="640080" cy="365125"/>
          </a:xfrm>
        </p:spPr>
        <p:txBody>
          <a:bodyPr/>
          <a:lstStyle/>
          <a:p>
            <a:fld id="{C2216105-7B7A-4C42-B2A1-5E9A2FA4F8FD}" type="slidenum">
              <a:rPr lang="en-IN" sz="1400" b="1" smtClean="0">
                <a:solidFill>
                  <a:srgbClr val="1F3864"/>
                </a:solidFill>
              </a:rPr>
              <a:t>40</a:t>
            </a:fld>
            <a:endParaRPr lang="en-IN" dirty="0"/>
          </a:p>
        </p:txBody>
      </p:sp>
      <p:sp>
        <p:nvSpPr>
          <p:cNvPr id="101" name="Text 101"/>
          <p:cNvSpPr txBox="1"/>
          <p:nvPr/>
        </p:nvSpPr>
        <p:spPr>
          <a:xfrm>
            <a:off x="548640" y="2194560"/>
            <a:ext cx="1115568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4000" b="0" i="0" dirty="0">
                <a:solidFill>
                  <a:srgbClr val="14532D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40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Jyothish Lal G - [CEN} Amrita Vishwa Vidyapeetham.</cp:lastModifiedBy>
  <cp:revision>45</cp:revision>
  <dcterms:created xsi:type="dcterms:W3CDTF">2023-07-03T07:55:31Z</dcterms:created>
  <dcterms:modified xsi:type="dcterms:W3CDTF">2026-07-28T09:22:06Z</dcterms:modified>
</cp:coreProperties>
</file>